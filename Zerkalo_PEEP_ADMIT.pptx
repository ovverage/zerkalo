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gif" ContentType="image/gif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0a057111de4079" /><Relationship Type="http://schemas.openxmlformats.org/officeDocument/2006/relationships/extended-properties" Target="/docProps/app.xml" Id="Rce883304e4b44a15" /><Relationship Type="http://schemas.openxmlformats.org/officeDocument/2006/relationships/officeDocument" Target="/ppt/presentation.xml" Id="Rd7d36c00383745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04dea770d44af6"/>
  </p:sldMasterIdLst>
  <p:notesMasterIdLst>
    <p:notesMasterId xmlns:r="http://schemas.openxmlformats.org/officeDocument/2006/relationships" r:id="Rbacbc8a12c9843e0"/>
  </p:notesMasterIdLst>
  <p:sldIdLst>
    <p:sldId xmlns:r="http://schemas.openxmlformats.org/officeDocument/2006/relationships" id="256" r:id="R06f56f91bfd14a7c"/>
    <p:sldId xmlns:r="http://schemas.openxmlformats.org/officeDocument/2006/relationships" id="257" r:id="R0be847eacf5b4334"/>
    <p:sldId xmlns:r="http://schemas.openxmlformats.org/officeDocument/2006/relationships" id="258" r:id="R3fe94e6aa51c4109"/>
    <p:sldId xmlns:r="http://schemas.openxmlformats.org/officeDocument/2006/relationships" id="259" r:id="R73a3005c3334485b"/>
    <p:sldId xmlns:r="http://schemas.openxmlformats.org/officeDocument/2006/relationships" id="260" r:id="Rcb1f666199144c5e"/>
    <p:sldId xmlns:r="http://schemas.openxmlformats.org/officeDocument/2006/relationships" id="261" r:id="R04c579ff3e474311"/>
    <p:sldId xmlns:r="http://schemas.openxmlformats.org/officeDocument/2006/relationships" id="262" r:id="R3f702a9c471b4148"/>
    <p:sldId xmlns:r="http://schemas.openxmlformats.org/officeDocument/2006/relationships" id="263" r:id="Rb6b27538f1844a2b"/>
    <p:sldId xmlns:r="http://schemas.openxmlformats.org/officeDocument/2006/relationships" id="264" r:id="Ra0cad3094910499e"/>
    <p:sldId xmlns:r="http://schemas.openxmlformats.org/officeDocument/2006/relationships" id="265" r:id="R9c41493f876b47b2"/>
    <p:sldId xmlns:r="http://schemas.openxmlformats.org/officeDocument/2006/relationships" id="266" r:id="R6d7227406f6a4834"/>
    <p:sldId xmlns:r="http://schemas.openxmlformats.org/officeDocument/2006/relationships" id="267" r:id="R6e2f5a9c6e2b47af"/>
    <p:sldId xmlns:r="http://schemas.openxmlformats.org/officeDocument/2006/relationships" id="268" r:id="R2854ec29c2df47ea"/>
    <p:sldId xmlns:r="http://schemas.openxmlformats.org/officeDocument/2006/relationships" id="269" r:id="R3a557c40bf4242f0"/>
    <p:sldId xmlns:r="http://schemas.openxmlformats.org/officeDocument/2006/relationships" id="270" r:id="Rf68faa40219744d2"/>
    <p:sldId xmlns:r="http://schemas.openxmlformats.org/officeDocument/2006/relationships" id="271" r:id="Rb7b96f3ac50540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908a31bc9d4bfc" /><Relationship Type="http://schemas.openxmlformats.org/officeDocument/2006/relationships/slideMaster" Target="/ppt/slideMasters/slideMaster1.xml" Id="R5604dea770d44af6" /><Relationship Type="http://schemas.openxmlformats.org/officeDocument/2006/relationships/notesMaster" Target="/ppt/notesMasters/notesMaster1.xml" Id="Rbacbc8a12c9843e0" /><Relationship Type="http://schemas.openxmlformats.org/officeDocument/2006/relationships/presProps" Target="/ppt/presProps.xml" Id="Rce921c58a44a4cf1" /><Relationship Type="http://schemas.openxmlformats.org/officeDocument/2006/relationships/tableStyles" Target="/ppt/tableStyles.xml" Id="R988d1e5ba5f94041" /><Relationship Type="http://schemas.openxmlformats.org/officeDocument/2006/relationships/slide" Target="/ppt/slides/slide1.xml" Id="R06f56f91bfd14a7c" /><Relationship Type="http://schemas.openxmlformats.org/officeDocument/2006/relationships/slide" Target="/ppt/slides/slide2.xml" Id="R0be847eacf5b4334" /><Relationship Type="http://schemas.openxmlformats.org/officeDocument/2006/relationships/slide" Target="/ppt/slides/slide3.xml" Id="R3fe94e6aa51c4109" /><Relationship Type="http://schemas.openxmlformats.org/officeDocument/2006/relationships/slide" Target="/ppt/slides/slide4.xml" Id="R73a3005c3334485b" /><Relationship Type="http://schemas.openxmlformats.org/officeDocument/2006/relationships/slide" Target="/ppt/slides/slide5.xml" Id="Rcb1f666199144c5e" /><Relationship Type="http://schemas.openxmlformats.org/officeDocument/2006/relationships/slide" Target="/ppt/slides/slide6.xml" Id="R04c579ff3e474311" /><Relationship Type="http://schemas.openxmlformats.org/officeDocument/2006/relationships/slide" Target="/ppt/slides/slide7.xml" Id="R3f702a9c471b4148" /><Relationship Type="http://schemas.openxmlformats.org/officeDocument/2006/relationships/slide" Target="/ppt/slides/slide8.xml" Id="Rb6b27538f1844a2b" /><Relationship Type="http://schemas.openxmlformats.org/officeDocument/2006/relationships/slide" Target="/ppt/slides/slide9.xml" Id="Ra0cad3094910499e" /><Relationship Type="http://schemas.openxmlformats.org/officeDocument/2006/relationships/slide" Target="/ppt/slides/slide10.xml" Id="R9c41493f876b47b2" /><Relationship Type="http://schemas.openxmlformats.org/officeDocument/2006/relationships/slide" Target="/ppt/slides/slide11.xml" Id="R6d7227406f6a4834" /><Relationship Type="http://schemas.openxmlformats.org/officeDocument/2006/relationships/slide" Target="/ppt/slides/slide12.xml" Id="R6e2f5a9c6e2b47af" /><Relationship Type="http://schemas.openxmlformats.org/officeDocument/2006/relationships/slide" Target="/ppt/slides/slide13.xml" Id="R2854ec29c2df47ea" /><Relationship Type="http://schemas.openxmlformats.org/officeDocument/2006/relationships/slide" Target="/ppt/slides/slide14.xml" Id="R3a557c40bf4242f0" /><Relationship Type="http://schemas.openxmlformats.org/officeDocument/2006/relationships/slide" Target="/ppt/slides/slide15.xml" Id="Rf68faa40219744d2" /><Relationship Type="http://schemas.openxmlformats.org/officeDocument/2006/relationships/slide" Target="/ppt/slides/slide16.xml" Id="Rb7b96f3ac50540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e3b3eedb3043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3c27e79bfd429f" /><Relationship Type="http://schemas.openxmlformats.org/officeDocument/2006/relationships/notesMaster" Target="/ppt/notesMasters/notesMaster1.xml" Id="Rdaa70b13406f4e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f5d87ecfc7424c" /><Relationship Type="http://schemas.openxmlformats.org/officeDocument/2006/relationships/notesMaster" Target="/ppt/notesMasters/notesMaster1.xml" Id="R4707b656658c49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6e1d3bfbfb4540" /><Relationship Type="http://schemas.openxmlformats.org/officeDocument/2006/relationships/notesMaster" Target="/ppt/notesMasters/notesMaster1.xml" Id="Rfd6f7a46a6644e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1d824d8fac41fa" /><Relationship Type="http://schemas.openxmlformats.org/officeDocument/2006/relationships/notesMaster" Target="/ppt/notesMasters/notesMaster1.xml" Id="Re10db868fdbf4c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52a250280d4da6" /><Relationship Type="http://schemas.openxmlformats.org/officeDocument/2006/relationships/notesMaster" Target="/ppt/notesMasters/notesMaster1.xml" Id="Rdf91c919277e4c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04df4e1d864186" /><Relationship Type="http://schemas.openxmlformats.org/officeDocument/2006/relationships/notesMaster" Target="/ppt/notesMasters/notesMaster1.xml" Id="R542d5ffbbf234d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de66b476d74d7e" /><Relationship Type="http://schemas.openxmlformats.org/officeDocument/2006/relationships/notesMaster" Target="/ppt/notesMasters/notesMaster1.xml" Id="R4ee93b0182c04b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868cef33c84176" /><Relationship Type="http://schemas.openxmlformats.org/officeDocument/2006/relationships/notesMaster" Target="/ppt/notesMasters/notesMaster1.xml" Id="Rbb76d32cb2a04f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9636efb82a4aa0" /><Relationship Type="http://schemas.openxmlformats.org/officeDocument/2006/relationships/notesMaster" Target="/ppt/notesMasters/notesMaster1.xml" Id="Refca653f3f3a48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95cd79cb1d441c" /><Relationship Type="http://schemas.openxmlformats.org/officeDocument/2006/relationships/notesMaster" Target="/ppt/notesMasters/notesMaster1.xml" Id="R825abee8b11e42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14964ac0954c6a" /><Relationship Type="http://schemas.openxmlformats.org/officeDocument/2006/relationships/notesMaster" Target="/ppt/notesMasters/notesMaster1.xml" Id="R40beeb5f79ba41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fa111cf0d24780" /><Relationship Type="http://schemas.openxmlformats.org/officeDocument/2006/relationships/notesMaster" Target="/ppt/notesMasters/notesMaster1.xml" Id="Rfc9a2defae684f8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09bd1384a049f7" /><Relationship Type="http://schemas.openxmlformats.org/officeDocument/2006/relationships/notesMaster" Target="/ppt/notesMasters/notesMaster1.xml" Id="R46611367b3f94de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387fc01ed944c0" /><Relationship Type="http://schemas.openxmlformats.org/officeDocument/2006/relationships/notesMaster" Target="/ppt/notesMasters/notesMaster1.xml" Id="Rfb9e813e66394db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83c7796f0dd4920" /><Relationship Type="http://schemas.openxmlformats.org/officeDocument/2006/relationships/notesMaster" Target="/ppt/notesMasters/notesMaster1.xml" Id="R5460e8c92d49429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3fcca7a82bb4c08" /><Relationship Type="http://schemas.openxmlformats.org/officeDocument/2006/relationships/notesMaster" Target="/ppt/notesMasters/notesMaster1.xml" Id="R32120953c47a4a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Мы команда PEEP. Представляем «Зеркало» для кейса MOTION: камера вместо джойстика. Обычная камера помогает выполнять упражнения, считает полные повторения и даёт конкретную обратную связь. После разрешения камеры основным маршрутом можно управлять телом.</a:t>
            </a:r>
          </a:p>
          <a:p xmlns:a="http://schemas.openxmlformats.org/drawingml/2006/main">
            <a:r>
              <a:t>Обложка: концептуальная иллюстрация, создана с помощью image_gen, не запись живого испытания.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https://github.com/ovverage/zerkalo/blob/af38dc18e0e2df1819ed5e2399bb107b60f18a65/README.md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Когда человек занимается по видео, он видит образец, но не получает ответа о своём движении. Достаточно ли глубины? Был ли полный возврат? Во время подхода ещё и неудобно тянуться к экрану. Мы сосредоточились на короткой тренировке, где обратная связь появляется сразу.</a:t>
            </a:r>
          </a:p>
          <a:p xmlns:a="http://schemas.openxmlformats.org/drawingml/2006/main">
            <a:r>
              <a:t>Фото: концептуальная иллюстрация, создана с помощью image_gen. Это не фотография участника тестирования.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https://github.com/ovverage/zerkalo/blob/af38dc18e0e2df1819ed5e2399bb107b60f18a65/README.md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Зеркало связывает камеру с понятной реакцией интерфейса. Пользователь выбирает упражнение, смотрит исходную позу и начинает двигаться. На экране есть счёт повторений, одна актуальная подсказка и затем результат. Регистрация, контроллеры и дополнительные датчики не нужны.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https://github.com/ovverage/zerkalo/blob/af38dc18e0e2df1819ed5e2399bb107b60f18a65/README.md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Главный сценарий занимает 75 секунд активного выполнения. Человек приседает в удобном темпе. Если приложение замечает нарушение, оно объясняет причину. Следующий полный повтор проверяет исправление. Подготовка, помощь и пауза не расходуют время. Намеренно делать ошибки не требуется.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https://github.com/ovverage/zerkalo/blob/af38dc18e0e2df1819ed5e2399bb107b60f18a65/README.md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После разрешения камеры доступны три разных движения. Левая рука в сторону выбирает предыдущий пункт, правая следующий. Крест подтверждает выбор, а во время упражнения ставит паузу и продолжает подход. Между командами нужно опустить руки. Поднятые обе руки ничего не переключают.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https://github.com/ovverage/zerkalo/blob/af38dc18e0e2df1819ed5e2399bb107b60f18a65/README.md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28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Решение привязано к измерению. Например, при недостаточной глубине приложение сообщает угол колена и порог правила. Попытка сохраняется, но счётчик не увеличивается. Если нужные суставы не видны, оценка приостанавливается. Это отдельная ситуация, её нельзя объявлять ошибкой техники.</a:t>
            </a:r>
          </a:p>
          <a:p xmlns:a="http://schemas.openxmlformats.org/drawingml/2006/main">
            <a:r>
              <a:t>125° и 102°: пример сообщения из README, не результаты испытания на человеке.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https://github.com/ovverage/zerkalo/blob/af38dc18e0e2df1819ed5e2399bb107b60f18a65/README.md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Исправление подтверждается следующим зачтённым повтором и конечным измерением того же правила. Исчезновение из кадра не считается исправлением. В истории можно сравнить две полные попытки с той же программой, моделью и правилами. На слайде показан интерфейс на синтетических координатах, а не улучшение реального участника.</a:t>
            </a:r>
          </a:p>
          <a:p xmlns:a="http://schemas.openxmlformats.org/drawingml/2006/main">
            <a:r>
              <a:t>Источник изображения: локальный стенд test/handsfree.html?comparison.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https://github.com/ovverage/zerkalo/blob/af38dc18e0e2df1819ed5e2399bb107b60f18a65/README.md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26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Жёсткой привязки к центру нет. Важна видимость рабочих суставов. Для жима нужен фронтальный вид, для отжиманий лучше боковой или диагональный на уровне пола. Для приседа, отжиманий и планки может хватить одной целой видимой стороны. Съёмку строго сверху мы не обещаем.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https://github.com/ovverage/zerkalo/blob/af38dc18e0e2df1819ed5e2399bb107b60f18a65/README.md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Перед началом есть короткий анимированный ролик, исходная поза и указание, куда поставить камеру. Этот же материал доступен из помощи на паузе. Важные ошибки голос произносит не чаще раза в десять секунд, а повтор одной ошибки не чаще раза в тридцать. Голос можно отключить.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https://github.com/ovverage/zerkalo/blob/af38dc18e0e2df1819ed5e2399bb107b60f18a65/README.md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компьютере приложение использует верхнее меню и широкую сетку упражнений. В APK отдельная Android-компоновка с нижними вкладками и учётом системных панелей. Логика упражнений общая. Android-оформление включается только внутри Capacitor, а не просто из-за узкого экрана браузера.</a:t>
            </a:r>
          </a:p>
          <a:p xmlns:a="http://schemas.openxmlformats.org/drawingml/2006/main">
            <a:r>
              <a:t>Android-изображение: браузерный стенд с геометрией APK, не фото физического телефона.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https://github.com/ovverage/zerkalo/blob/af38dc18e0e2df1819ed5e2399bb107b60f18a65/README.md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22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Кадры не отправляются на сервер. Распознавание и правила выполняются локально, история хранится на устройстве. В APK модели и обучающие ролики входят в файл. Веб-версия загружает локальные ресурсы сайта, но гарантированного офлайн-режима сайта пока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https://github.com/ovverage/zerkalo/blob/af38dc18e0e2df1819ed5e2399bb107b60f18a65/README.md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29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MediaPipe определяет 33 точки тела. Дальше работает наш код: видимость, геометрия, сглаживание, фазы повторения и правила упражнения. Сессия решает, когда считать повтор и как объяснить отказ. Интерфейс показывает результат. Модель позы является сторонним компонентом, а правила и сценарий написаны в проекте.</a:t>
            </a:r>
          </a:p>
          <a:p xmlns:a="http://schemas.openxmlformats.org/drawingml/2006/main">
            <a:r>
              <a:t>Источник: docs/architecture.md и src/engine/.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https://github.com/ovverage/zerkalo/blob/af38dc18e0e2df1819ed5e2399bb107b60f18a65/README.md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27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Мы учитываем полный цикл движения и возврат, а не только один удачный кадр. Видимость проверяется по целым рабочим цепочкам. После жеста нужно опустить руки, поэтому удержание не пролистывает экраны. Одновременно обрабатывается один кадр, а устаревшие результаты отбрасываются.</a:t>
            </a:r>
          </a:p>
          <a:p xmlns:a="http://schemas.openxmlformats.org/drawingml/2006/main">
            <a:r>
              <a:t>Источник: src/engine/repCounter.ts, src/gestures/uiGestures.ts, src/vision/tracking.ts и src/vision/poseDetector.ts.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https://github.com/ovverage/zerkalo/blob/af38dc18e0e2df1819ed5e2399bb107b60f18a65/README.md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27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текущей версии проходят 97 автоматических тестов, сборка и аудит ресурсов. Браузерный стенд проходит полный маршрут жестами на синтетическом вводе. Веб опубликован, APK 1.3.0 доступен для установки. Эти проверки подтверждают логику и поставку, но не измеряют точность на разных людях.</a:t>
            </a:r>
          </a:p>
          <a:p xmlns:a="http://schemas.openxmlformats.org/drawingml/2006/main">
            <a:r>
              <a:t>Источник: docs/verification.md. Проверки GitHub: https://github.com/ovverage/zerkalo/actions/runs/36684771060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https://github.com/ovverage/zerkalo/blob/af38dc18e0e2df1819ed5e2399bb107b60f18a65/README.md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Следующий шаг конкретный: пройти сценарий на двух-трёх участниках и физическом Android. Сопоставить ручной подсчёт с приложением, отметить ложные отказы, пропущенные команды и условия камеры. По этим данным можно корректировать пороги. Протокол уже подготовлен, результаты ещё предстоит получить.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https://github.com/ovverage/zerkalo/blob/af38dc18e0e2df1819ed5e2399bb107b60f18a65/README.md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 секунд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Зеркало уже можно открыть по QR-коду: это опубликованная веб-версия. Код, APK и описание ограничений доступны в репозитории. Мы предлагаем короткую проверку главного сценария «Исправь движение» и готовы показать управление без касаний. Спасибо.</a:t>
            </a:r>
          </a:p>
          <a:p xmlns:a="http://schemas.openxmlformats.org/drawingml/2006/main">
            <a:r>
              <a:t>Фоновая иллюстрация повторяет обложку. QR ведёт на https://ovverage.github.io/zerkalo/app/.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https://github.com/ovverage/zerkalo/blob/af38dc18e0e2df1819ed5e2399bb107b60f18a65/README.md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00fb59686341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8f22cbf4f14515" /><Relationship Type="http://schemas.openxmlformats.org/officeDocument/2006/relationships/slideLayout" Target="/ppt/slideLayouts/slideLayout1.xml" Id="R59a4bae20e114e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a4bae20e114e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47ac9f65444bc" /><Relationship Type="http://schemas.openxmlformats.org/officeDocument/2006/relationships/image" Target="/ppt/media/image.png" Id="Rca7a8c547c9a4958" /><Relationship Type="http://schemas.openxmlformats.org/officeDocument/2006/relationships/notesSlide" Target="/ppt/notesSlides/notesSlide1.xml" Id="R8880574fd8664f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e9e8af2c34d68" /><Relationship Type="http://schemas.openxmlformats.org/officeDocument/2006/relationships/image" Target="/ppt/media/image2.png" Id="R06cdaddf5e3b4de0" /><Relationship Type="http://schemas.openxmlformats.org/officeDocument/2006/relationships/notesSlide" Target="/ppt/notesSlides/notesSlide2.xml" Id="Rfc971e25b6a14b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c4d1a370b4bb0" /><Relationship Type="http://schemas.openxmlformats.org/officeDocument/2006/relationships/image" Target="/ppt/media/image.jpeg" Id="Ra9572765ff2b4679" /><Relationship Type="http://schemas.openxmlformats.org/officeDocument/2006/relationships/notesSlide" Target="/ppt/notesSlides/notesSlide3.xml" Id="R4eea84a78a5544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a87f1cd704074" /><Relationship Type="http://schemas.openxmlformats.org/officeDocument/2006/relationships/notesSlide" Target="/ppt/notesSlides/notesSlide4.xml" Id="R138f4a48df9146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bf89bc5ca403d" /><Relationship Type="http://schemas.openxmlformats.org/officeDocument/2006/relationships/notesSlide" Target="/ppt/notesSlides/notesSlide5.xml" Id="Rffe0692405b843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04d030d484697" /><Relationship Type="http://schemas.openxmlformats.org/officeDocument/2006/relationships/notesSlide" Target="/ppt/notesSlides/notesSlide6.xml" Id="Rda88090baa0f4f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9edd8ef1e4a71" /><Relationship Type="http://schemas.openxmlformats.org/officeDocument/2006/relationships/image" Target="/ppt/media/image3.png" Id="Rdc618226d6654db3" /><Relationship Type="http://schemas.openxmlformats.org/officeDocument/2006/relationships/notesSlide" Target="/ppt/notesSlides/notesSlide7.xml" Id="R8af7b8a54a7e44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6b90f9b984eb9" /><Relationship Type="http://schemas.openxmlformats.org/officeDocument/2006/relationships/image" Target="/ppt/media/image4.png" Id="R6ba50b05ad864013" /><Relationship Type="http://schemas.openxmlformats.org/officeDocument/2006/relationships/image" Target="/ppt/media/image5.png" Id="R9190bae6c7f746b0" /><Relationship Type="http://schemas.openxmlformats.org/officeDocument/2006/relationships/notesSlide" Target="/ppt/notesSlides/notesSlide8.xml" Id="R746b66b558dc4749" 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e7fc23675934801"/><Relationship Type="http://schemas.openxmlformats.org/officeDocument/2006/relationships/image" Target="../media/zerkalo-squat.gif" Id="R1e9ad29e135b47be"/><Relationship Type="http://schemas.openxmlformats.org/officeDocument/2006/relationships/notesSlide" Target="/ppt/notesSlides/notesSlide9.xml" Id="R983acdc4925244fe"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caa11a4b64067" /><Relationship Type="http://schemas.openxmlformats.org/officeDocument/2006/relationships/image" Target="/ppt/media/image2.jpeg" Id="R598a94d5c99841ac" /><Relationship Type="http://schemas.openxmlformats.org/officeDocument/2006/relationships/image" Target="/ppt/media/image3.jpeg" Id="Rfa79ff93343145c8" /><Relationship Type="http://schemas.openxmlformats.org/officeDocument/2006/relationships/notesSlide" Target="/ppt/notesSlides/notesSlide10.xml" Id="R95fb99bd716845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0fdc3551b4236" /><Relationship Type="http://schemas.openxmlformats.org/officeDocument/2006/relationships/notesSlide" Target="/ppt/notesSlides/notesSlide11.xml" Id="Rf884edc52d2543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3b6110a744677" /><Relationship Type="http://schemas.openxmlformats.org/officeDocument/2006/relationships/notesSlide" Target="/ppt/notesSlides/notesSlide12.xml" Id="Rc7e28e9b3bbe4f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f818baed74594" /><Relationship Type="http://schemas.openxmlformats.org/officeDocument/2006/relationships/notesSlide" Target="/ppt/notesSlides/notesSlide13.xml" Id="R3f6b8d81549445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37fba6ac14203" /><Relationship Type="http://schemas.openxmlformats.org/officeDocument/2006/relationships/notesSlide" Target="/ppt/notesSlides/notesSlide14.xml" Id="R3dfefd3895ee408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dc77de5be4896" /><Relationship Type="http://schemas.openxmlformats.org/officeDocument/2006/relationships/notesSlide" Target="/ppt/notesSlides/notesSlide15.xml" Id="Rab1d65704ccf447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0d773c03a423e" /><Relationship Type="http://schemas.openxmlformats.org/officeDocument/2006/relationships/image" Target="/ppt/media/image7.png" Id="Raeb6fff119354f5f" /><Relationship Type="http://schemas.openxmlformats.org/officeDocument/2006/relationships/image" Target="/ppt/media/image8.png" Id="R473e5f851b18411f" /><Relationship Type="http://schemas.openxmlformats.org/officeDocument/2006/relationships/hyperlink" Target="https://ovverage.github.io/zerkalo/app/" TargetMode="External" Id="R14da99cb49ba4f7c" /><Relationship Type="http://schemas.openxmlformats.org/officeDocument/2006/relationships/hyperlink" Target="https://ovverage.github.io/zerkalo/app/" TargetMode="External" Id="R8874369f9a594d6b" /><Relationship Type="http://schemas.openxmlformats.org/officeDocument/2006/relationships/hyperlink" Target="https://github.com/ovverage/zerkalo" TargetMode="External" Id="R3309c73864ef4d2c" /><Relationship Type="http://schemas.openxmlformats.org/officeDocument/2006/relationships/notesSlide" Target="/ppt/notesSlides/notesSlide16.xml" Id="Rf3cf6b425dd143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2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tatic">
            <a:extLst xmlns:a="http://schemas.openxmlformats.org/drawingml/2006/main">
              <a:ext uri="{FF2B5EF4-FFF2-40B4-BE49-F238E27FC236}">
                <a16:creationId xmlns:a16="http://schemas.microsoft.com/office/drawing/2014/main" id="{B573BF9F-624D-4B7E-A47F-B74E54FF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a8c547c9a495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anim-0">
            <a:extLst xmlns:a="http://schemas.openxmlformats.org/drawingml/2006/main">
              <a:ext uri="{FF2B5EF4-FFF2-40B4-BE49-F238E27FC236}">
                <a16:creationId xmlns:a16="http://schemas.microsoft.com/office/drawing/2014/main" id="{D1E21169-78A5-4EE8-9C51-2ED650DC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6572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Зеркало</a:t>
            </a:r>
          </a:p>
        </p:txBody>
      </p:sp>
      <p:sp>
        <p:nvSpPr>
          <p:cNvPr id="4" name="anim-1">
            <a:extLst xmlns:a="http://schemas.openxmlformats.org/drawingml/2006/main">
              <a:ext uri="{FF2B5EF4-FFF2-40B4-BE49-F238E27FC236}">
                <a16:creationId xmlns:a16="http://schemas.microsoft.com/office/drawing/2014/main" id="{26D97EF6-F7AB-4673-8B55-CA25588F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F8FB"/>
                </a:solidFill>
                <a:latin typeface="Arial"/>
                <a:ea typeface="Arial"/>
                <a:cs typeface="Arial"/>
              </a:rPr>
              <a:t>Тренировки с камерой</a:t>
            </a:r>
          </a:p>
          <a:p xmlns:a="http://schemas.openxmlformats.org/drawingml/2006/main">
            <a:pPr algn="l">
              <a:defRPr sz="2550" b="0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F8FB"/>
                </a:solidFill>
                <a:latin typeface="Arial"/>
                <a:ea typeface="Arial"/>
                <a:cs typeface="Arial"/>
              </a:rPr>
              <a:t>и проверкой техники</a:t>
            </a:r>
          </a:p>
        </p:txBody>
      </p:sp>
      <p:sp>
        <p:nvSpPr>
          <p:cNvPr id="5" name="anim-2">
            <a:extLst xmlns:a="http://schemas.openxmlformats.org/drawingml/2006/main">
              <a:ext uri="{FF2B5EF4-FFF2-40B4-BE49-F238E27FC236}">
                <a16:creationId xmlns:a16="http://schemas.microsoft.com/office/drawing/2014/main" id="{CA8E565F-238F-443D-9C40-8F4A6ECE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E9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CE9F5"/>
                </a:solidFill>
                <a:latin typeface="Arial"/>
                <a:ea typeface="Arial"/>
                <a:cs typeface="Arial"/>
              </a:rPr>
              <a:t>PEEP</a:t>
            </a:r>
          </a:p>
        </p:txBody>
      </p:sp>
      <p:sp>
        <p:nvSpPr>
          <p:cNvPr id="6" name="static">
            <a:extLst xmlns:a="http://schemas.openxmlformats.org/drawingml/2006/main">
              <a:ext uri="{FF2B5EF4-FFF2-40B4-BE49-F238E27FC236}">
                <a16:creationId xmlns:a16="http://schemas.microsoft.com/office/drawing/2014/main" id="{AAED36F0-F546-42DE-B754-55EB9788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62675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ADMIT HACKATHON  /  MOTION</a:t>
            </a:r>
          </a:p>
        </p:txBody>
      </p:sp>
    </p:spTree>
    <p:extLst>
      <p:ext uri="{BB962C8B-B14F-4D97-AF65-F5344CB8AC3E}">
        <p14:creationId xmlns:p14="http://schemas.microsoft.com/office/powerpoint/2010/main" val="537905284"/>
      </p:ext>
    </p:extLst>
  </p:cSld>
  <p:transition spd="med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2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nim-0">
            <a:extLst xmlns:a="http://schemas.openxmlformats.org/drawingml/2006/main">
              <a:ext uri="{FF2B5EF4-FFF2-40B4-BE49-F238E27FC236}">
                <a16:creationId xmlns:a16="http://schemas.microsoft.com/office/drawing/2014/main" id="{35BA9319-D8C9-4DCA-AE5C-86F40111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0"/>
                </a:solidFill>
                <a:latin typeface="Arial"/>
                <a:ea typeface="Arial"/>
                <a:cs typeface="Arial"/>
              </a:rPr>
              <a:t>Домашняя тренировка</a:t>
            </a:r>
          </a:p>
          <a:p xmlns:a="http://schemas.openxmlformats.org/drawingml/2006/main">
            <a:pPr algn="l">
              <a:defRPr sz="3600" b="1">
                <a:solidFill>
                  <a:srgbClr val="1023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0"/>
                </a:solidFill>
                <a:latin typeface="Arial"/>
                <a:ea typeface="Arial"/>
                <a:cs typeface="Arial"/>
              </a:rPr>
              <a:t>без обратной связи</a:t>
            </a:r>
          </a:p>
        </p:txBody>
      </p:sp>
      <p:sp>
        <p:nvSpPr>
          <p:cNvPr id="2" name="static">
            <a:extLst xmlns:a="http://schemas.openxmlformats.org/drawingml/2006/main">
              <a:ext uri="{FF2B5EF4-FFF2-40B4-BE49-F238E27FC236}">
                <a16:creationId xmlns:a16="http://schemas.microsoft.com/office/drawing/2014/main" id="{4638270A-CABC-4500-B554-FC9D2181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9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961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daddf5e3b4de0"/>
          <a:srcRect xmlns:a="http://schemas.openxmlformats.org/drawingml/2006/main" l="2274" t="0" r="22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anim-1">
            <a:extLst xmlns:a="http://schemas.openxmlformats.org/drawingml/2006/main">
              <a:ext uri="{FF2B5EF4-FFF2-40B4-BE49-F238E27FC236}">
                <a16:creationId xmlns:a16="http://schemas.microsoft.com/office/drawing/2014/main" id="{5BC630BD-7351-490F-AA67-B31B17A2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552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3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330"/>
                </a:solidFill>
                <a:latin typeface="Arial"/>
                <a:ea typeface="Arial"/>
                <a:cs typeface="Arial"/>
              </a:rPr>
              <a:t>Достаточно ли</a:t>
            </a:r>
          </a:p>
          <a:p xmlns:a="http://schemas.openxmlformats.org/drawingml/2006/main">
            <a:pPr algn="l">
              <a:defRPr sz="3150" b="1">
                <a:solidFill>
                  <a:srgbClr val="10233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330"/>
                </a:solidFill>
                <a:latin typeface="Arial"/>
                <a:ea typeface="Arial"/>
                <a:cs typeface="Arial"/>
              </a:rPr>
              <a:t>глубокий присед?</a:t>
            </a:r>
          </a:p>
        </p:txBody>
      </p:sp>
      <p:sp>
        <p:nvSpPr>
          <p:cNvPr id="5" name="anim-2">
            <a:extLst xmlns:a="http://schemas.openxmlformats.org/drawingml/2006/main">
              <a:ext uri="{FF2B5EF4-FFF2-40B4-BE49-F238E27FC236}">
                <a16:creationId xmlns:a16="http://schemas.microsoft.com/office/drawing/2014/main" id="{35005DE3-83FD-4BCC-A1EA-62B4608D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49616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49616F"/>
                </a:solidFill>
                <a:latin typeface="Arial"/>
                <a:ea typeface="Arial"/>
                <a:cs typeface="Arial"/>
              </a:rPr>
              <a:t>Видео показывает образец.</a:t>
            </a:r>
          </a:p>
          <a:p xmlns:a="http://schemas.openxmlformats.org/drawingml/2006/main">
            <a:pPr algn="l">
              <a:defRPr sz="2175" b="0">
                <a:solidFill>
                  <a:srgbClr val="49616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49616F"/>
                </a:solidFill>
                <a:latin typeface="Arial"/>
                <a:ea typeface="Arial"/>
                <a:cs typeface="Arial"/>
              </a:rPr>
              <a:t>Своя техника остаётся без ответа.</a:t>
            </a:r>
          </a:p>
        </p:txBody>
      </p:sp>
      <p:sp>
        <p:nvSpPr>
          <p:cNvPr id="6" name="anim-3">
            <a:extLst xmlns:a="http://schemas.openxmlformats.org/drawingml/2006/main">
              <a:ext uri="{FF2B5EF4-FFF2-40B4-BE49-F238E27FC236}">
                <a16:creationId xmlns:a16="http://schemas.microsoft.com/office/drawing/2014/main" id="{6E1FB39F-46FD-4F61-A907-7249F40F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4475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9616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9616F"/>
                </a:solidFill>
                <a:latin typeface="Arial"/>
                <a:ea typeface="Arial"/>
                <a:cs typeface="Arial"/>
              </a:rPr>
              <a:t>Чтобы нажать кнопку,</a:t>
            </a:r>
          </a:p>
          <a:p xmlns:a="http://schemas.openxmlformats.org/drawingml/2006/main">
            <a:pPr algn="l">
              <a:defRPr sz="2025" b="0">
                <a:solidFill>
                  <a:srgbClr val="49616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9616F"/>
                </a:solidFill>
                <a:latin typeface="Arial"/>
                <a:ea typeface="Arial"/>
                <a:cs typeface="Arial"/>
              </a:rPr>
              <a:t>приходится прерывать движение.</a:t>
            </a:r>
          </a:p>
        </p:txBody>
      </p:sp>
    </p:spTree>
    <p:extLst>
      <p:ext uri="{BB962C8B-B14F-4D97-AF65-F5344CB8AC3E}">
        <p14:creationId xmlns:p14="http://schemas.microsoft.com/office/powerpoint/2010/main" val="2027074839"/>
      </p:ext>
    </p:extLst>
  </p:cSld>
  <p:transition spd="med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 animBg="1"/>
      <p:bldP spid="5" grpId="0" animBg="1"/>
      <p:bldP spid="6" grpId="0" animBg="1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2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nim-0">
            <a:extLst xmlns:a="http://schemas.openxmlformats.org/drawingml/2006/main">
              <a:ext uri="{FF2B5EF4-FFF2-40B4-BE49-F238E27FC236}">
                <a16:creationId xmlns:a16="http://schemas.microsoft.com/office/drawing/2014/main" id="{7243ECAE-DF08-4D9F-B5FF-852DD7A6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Тренировка, которая видит движение</a:t>
            </a:r>
          </a:p>
        </p:txBody>
      </p:sp>
      <p:sp>
        <p:nvSpPr>
          <p:cNvPr id="2" name="static">
            <a:extLst xmlns:a="http://schemas.openxmlformats.org/drawingml/2006/main">
              <a:ext uri="{FF2B5EF4-FFF2-40B4-BE49-F238E27FC236}">
                <a16:creationId xmlns:a16="http://schemas.microsoft.com/office/drawing/2014/main" id="{6D972B35-01FA-4946-AE18-E169480C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anim-1">
            <a:extLst xmlns:a="http://schemas.openxmlformats.org/drawingml/2006/main">
              <a:ext uri="{FF2B5EF4-FFF2-40B4-BE49-F238E27FC236}">
                <a16:creationId xmlns:a16="http://schemas.microsoft.com/office/drawing/2014/main" id="{011A1E3A-9F89-4931-8666-4CFEF038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CE9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CE9F5"/>
                </a:solidFill>
                <a:latin typeface="Arial"/>
                <a:ea typeface="Arial"/>
                <a:cs typeface="Arial"/>
              </a:rPr>
              <a:t>Камера</a:t>
            </a:r>
          </a:p>
        </p:txBody>
      </p:sp>
      <p:sp>
        <p:nvSpPr>
          <p:cNvPr id="4" name="anim-1">
            <a:extLst xmlns:a="http://schemas.openxmlformats.org/drawingml/2006/main">
              <a:ext uri="{FF2B5EF4-FFF2-40B4-BE49-F238E27FC236}">
                <a16:creationId xmlns:a16="http://schemas.microsoft.com/office/drawing/2014/main" id="{E0EB6FB5-CB20-4BEF-A91A-5DA76ABC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328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Видимые суставы</a:t>
            </a:r>
          </a:p>
          <a:p xmlns:a="http://schemas.openxmlformats.org/drawingml/2006/main">
            <a:pPr algn="l">
              <a:defRPr sz="210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и положение тела</a:t>
            </a:r>
          </a:p>
        </p:txBody>
      </p:sp>
      <p:sp>
        <p:nvSpPr>
          <p:cNvPr id="5" name="anim-2">
            <a:extLst xmlns:a="http://schemas.openxmlformats.org/drawingml/2006/main">
              <a:ext uri="{FF2B5EF4-FFF2-40B4-BE49-F238E27FC236}">
                <a16:creationId xmlns:a16="http://schemas.microsoft.com/office/drawing/2014/main" id="{72ABCD9B-548C-4B8D-AF36-CD2EC709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Обратная связь</a:t>
            </a:r>
          </a:p>
        </p:txBody>
      </p:sp>
      <p:sp>
        <p:nvSpPr>
          <p:cNvPr id="6" name="anim-2">
            <a:extLst xmlns:a="http://schemas.openxmlformats.org/drawingml/2006/main">
              <a:ext uri="{FF2B5EF4-FFF2-40B4-BE49-F238E27FC236}">
                <a16:creationId xmlns:a16="http://schemas.microsoft.com/office/drawing/2014/main" id="{3ADA10F8-5852-480D-8C76-1E736555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Счётчик, подсказка</a:t>
            </a:r>
          </a:p>
          <a:p xmlns:a="http://schemas.openxmlformats.org/drawingml/2006/main">
            <a:pPr algn="l">
              <a:defRPr sz="210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и итог занятия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72765ff2b4679"/>
          <a:stretch xmlns:a="http://schemas.openxmlformats.org/drawingml/2006/main"/>
        </p:blipFill>
        <p:spPr>
          <a:xfrm xmlns:a="http://schemas.openxmlformats.org/drawingml/2006/main">
            <a:off x="4286250" y="1774627"/>
            <a:ext cx="7219950" cy="4061222"/>
          </a:xfrm>
          <a:prstGeom xmlns:a="http://schemas.openxmlformats.org/drawingml/2006/main" prst="rect">
            <a:avLst/>
          </a:prstGeom>
        </p:spPr>
      </p:pic>
      <p:sp>
        <p:nvSpPr>
          <p:cNvPr id="8" name="anim-2">
            <a:extLst xmlns:a="http://schemas.openxmlformats.org/drawingml/2006/main">
              <a:ext uri="{FF2B5EF4-FFF2-40B4-BE49-F238E27FC236}">
                <a16:creationId xmlns:a16="http://schemas.microsoft.com/office/drawing/2014/main" id="{0CDD3F42-9A7E-4872-8FCA-4F4E1182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53125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Работает в браузере без регистрации</a:t>
            </a:r>
          </a:p>
        </p:txBody>
      </p:sp>
    </p:spTree>
    <p:extLst>
      <p:ext uri="{BB962C8B-B14F-4D97-AF65-F5344CB8AC3E}">
        <p14:creationId xmlns:p14="http://schemas.microsoft.com/office/powerpoint/2010/main" val="1259135015"/>
      </p:ext>
    </p:extLst>
  </p:cSld>
  <p:transition spd="med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2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 animBg="1"/>
      <p:bldP spid="4" grpId="0" animBg="1"/>
      <p:bldP spid="5" grpId="0" animBg="1"/>
      <p:bldP spid="6" grpId="0" animBg="1"/>
      <p:bldP spid="8" grpId="0" animBg="1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2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nim-0">
            <a:extLst xmlns:a="http://schemas.openxmlformats.org/drawingml/2006/main">
              <a:ext uri="{FF2B5EF4-FFF2-40B4-BE49-F238E27FC236}">
                <a16:creationId xmlns:a16="http://schemas.microsoft.com/office/drawing/2014/main" id="{1AFC846C-71AA-4579-B84E-AC1D8A21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«Исправь движение»</a:t>
            </a:r>
          </a:p>
        </p:txBody>
      </p:sp>
      <p:sp>
        <p:nvSpPr>
          <p:cNvPr id="2" name="static">
            <a:extLst xmlns:a="http://schemas.openxmlformats.org/drawingml/2006/main">
              <a:ext uri="{FF2B5EF4-FFF2-40B4-BE49-F238E27FC236}">
                <a16:creationId xmlns:a16="http://schemas.microsoft.com/office/drawing/2014/main" id="{0843C468-82BC-4458-93BE-7C68274F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anim-1">
            <a:extLst xmlns:a="http://schemas.openxmlformats.org/drawingml/2006/main">
              <a:ext uri="{FF2B5EF4-FFF2-40B4-BE49-F238E27FC236}">
                <a16:creationId xmlns:a16="http://schemas.microsoft.com/office/drawing/2014/main" id="{819F794A-962E-4A56-A2DD-77D1ABD6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50482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0" b="1">
                <a:solidFill>
                  <a:srgbClr val="7CE9F5"/>
                </a:solidFill>
                <a:latin typeface="Arial"/>
                <a:ea typeface="Arial"/>
                <a:cs typeface="Arial"/>
              </a:defRPr>
            </a:pPr>
            <a:r>
              <a:rPr sz="17250" b="1">
                <a:solidFill>
                  <a:srgbClr val="7CE9F5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4" name="anim-1">
            <a:extLst xmlns:a="http://schemas.openxmlformats.org/drawingml/2006/main">
              <a:ext uri="{FF2B5EF4-FFF2-40B4-BE49-F238E27FC236}">
                <a16:creationId xmlns:a16="http://schemas.microsoft.com/office/drawing/2014/main" id="{5EAB8CF9-6A4A-468A-847F-1C871AA0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600575"/>
            <a:ext cx="5238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4F8FB"/>
                </a:solidFill>
                <a:latin typeface="Arial"/>
                <a:ea typeface="Arial"/>
                <a:cs typeface="Arial"/>
              </a:rPr>
              <a:t>секунд активного движения</a:t>
            </a:r>
          </a:p>
        </p:txBody>
      </p:sp>
      <p:sp>
        <p:nvSpPr>
          <p:cNvPr id="5" name="anim-2">
            <a:extLst xmlns:a="http://schemas.openxmlformats.org/drawingml/2006/main">
              <a:ext uri="{FF2B5EF4-FFF2-40B4-BE49-F238E27FC236}">
                <a16:creationId xmlns:a16="http://schemas.microsoft.com/office/drawing/2014/main" id="{C84BB60F-377D-41D7-B120-268FA445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095500"/>
            <a:ext cx="4667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Одна актуальная подсказка</a:t>
            </a:r>
          </a:p>
        </p:txBody>
      </p:sp>
      <p:sp>
        <p:nvSpPr>
          <p:cNvPr id="6" name="anim-2">
            <a:extLst xmlns:a="http://schemas.openxmlformats.org/drawingml/2006/main">
              <a:ext uri="{FF2B5EF4-FFF2-40B4-BE49-F238E27FC236}">
                <a16:creationId xmlns:a16="http://schemas.microsoft.com/office/drawing/2014/main" id="{F41F8051-3B7F-4789-B060-0BD572B6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81350"/>
            <a:ext cx="46958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Причина отказа остаётся на экране</a:t>
            </a:r>
          </a:p>
          <a:p xmlns:a="http://schemas.openxmlformats.org/drawingml/2006/main">
            <a:pPr algn="l">
              <a:defRPr sz="2025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вместе с подсветкой суставов.</a:t>
            </a:r>
          </a:p>
        </p:txBody>
      </p:sp>
      <p:sp>
        <p:nvSpPr>
          <p:cNvPr id="7" name="anim-3">
            <a:extLst xmlns:a="http://schemas.openxmlformats.org/drawingml/2006/main">
              <a:ext uri="{FF2B5EF4-FFF2-40B4-BE49-F238E27FC236}">
                <a16:creationId xmlns:a16="http://schemas.microsoft.com/office/drawing/2014/main" id="{2E36EED2-2DD3-4625-A769-C2D834FE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52975"/>
            <a:ext cx="46958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Следующий зачтённый повтор</a:t>
            </a:r>
          </a:p>
          <a:p xmlns:a="http://schemas.openxmlformats.org/drawingml/2006/main">
            <a:pPr algn="l">
              <a:defRPr sz="210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подтверждает исправление.</a:t>
            </a:r>
          </a:p>
        </p:txBody>
      </p:sp>
      <p:sp>
        <p:nvSpPr>
          <p:cNvPr id="8" name="anim-3">
            <a:extLst xmlns:a="http://schemas.openxmlformats.org/drawingml/2006/main">
              <a:ext uri="{FF2B5EF4-FFF2-40B4-BE49-F238E27FC236}">
                <a16:creationId xmlns:a16="http://schemas.microsoft.com/office/drawing/2014/main" id="{65FA437F-CA3F-478E-9119-700DA46D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3405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Пауза и помощь не расходуют 75 секунд</a:t>
            </a:r>
          </a:p>
        </p:txBody>
      </p:sp>
    </p:spTree>
    <p:extLst>
      <p:ext uri="{BB962C8B-B14F-4D97-AF65-F5344CB8AC3E}">
        <p14:creationId xmlns:p14="http://schemas.microsoft.com/office/powerpoint/2010/main" val="1907293827"/>
      </p:ext>
    </p:extLst>
  </p:cSld>
  <p:transition spd="med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2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2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nim-0">
            <a:extLst xmlns:a="http://schemas.openxmlformats.org/drawingml/2006/main">
              <a:ext uri="{FF2B5EF4-FFF2-40B4-BE49-F238E27FC236}">
                <a16:creationId xmlns:a16="http://schemas.microsoft.com/office/drawing/2014/main" id="{A82CC253-9DDB-4102-9093-7BF562A5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Три команды без касания экрана</a:t>
            </a:r>
          </a:p>
        </p:txBody>
      </p:sp>
      <p:sp>
        <p:nvSpPr>
          <p:cNvPr id="2" name="static">
            <a:extLst xmlns:a="http://schemas.openxmlformats.org/drawingml/2006/main">
              <a:ext uri="{FF2B5EF4-FFF2-40B4-BE49-F238E27FC236}">
                <a16:creationId xmlns:a16="http://schemas.microsoft.com/office/drawing/2014/main" id="{0D727F9D-5F0C-4924-A385-7E5480C4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anim-1">
            <a:extLst xmlns:a="http://schemas.openxmlformats.org/drawingml/2006/main">
              <a:ext uri="{FF2B5EF4-FFF2-40B4-BE49-F238E27FC236}">
                <a16:creationId xmlns:a16="http://schemas.microsoft.com/office/drawing/2014/main" id="{14714BF6-2979-45C6-A70C-B62EDC67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7CE9F5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7CE9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anim-1">
            <a:extLst xmlns:a="http://schemas.openxmlformats.org/drawingml/2006/main">
              <a:ext uri="{FF2B5EF4-FFF2-40B4-BE49-F238E27FC236}">
                <a16:creationId xmlns:a16="http://schemas.microsoft.com/office/drawing/2014/main" id="{366D35FE-334D-4AE0-9B3F-9A0EE3EB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Левая рука</a:t>
            </a:r>
          </a:p>
        </p:txBody>
      </p:sp>
      <p:sp>
        <p:nvSpPr>
          <p:cNvPr id="5" name="anim-1">
            <a:extLst xmlns:a="http://schemas.openxmlformats.org/drawingml/2006/main">
              <a:ext uri="{FF2B5EF4-FFF2-40B4-BE49-F238E27FC236}">
                <a16:creationId xmlns:a16="http://schemas.microsoft.com/office/drawing/2014/main" id="{E71B88E7-D9CC-4187-9A0F-6F4844C7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327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4F8FB"/>
                </a:solidFill>
                <a:latin typeface="Arial"/>
                <a:ea typeface="Arial"/>
                <a:cs typeface="Arial"/>
              </a:rPr>
              <a:t>Предыдущий пункт</a:t>
            </a:r>
          </a:p>
        </p:txBody>
      </p:sp>
      <p:sp>
        <p:nvSpPr>
          <p:cNvPr id="6" name="anim-1">
            <a:extLst xmlns:a="http://schemas.openxmlformats.org/drawingml/2006/main">
              <a:ext uri="{FF2B5EF4-FFF2-40B4-BE49-F238E27FC236}">
                <a16:creationId xmlns:a16="http://schemas.microsoft.com/office/drawing/2014/main" id="{C11C8C81-4CE0-496A-9A34-F55D1A16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321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в сторону, на уровне плеча</a:t>
            </a:r>
          </a:p>
        </p:txBody>
      </p:sp>
      <p:sp>
        <p:nvSpPr>
          <p:cNvPr id="7" name="anim-2">
            <a:extLst xmlns:a="http://schemas.openxmlformats.org/drawingml/2006/main">
              <a:ext uri="{FF2B5EF4-FFF2-40B4-BE49-F238E27FC236}">
                <a16:creationId xmlns:a16="http://schemas.microsoft.com/office/drawing/2014/main" id="{2D5D9FD0-3398-49F3-9ECD-4161FB50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574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7CE9F5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7CE9F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anim-2">
            <a:extLst xmlns:a="http://schemas.openxmlformats.org/drawingml/2006/main">
              <a:ext uri="{FF2B5EF4-FFF2-40B4-BE49-F238E27FC236}">
                <a16:creationId xmlns:a16="http://schemas.microsoft.com/office/drawing/2014/main" id="{A542BD79-0A6D-4A89-B625-F85AF516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000375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Правая рука</a:t>
            </a:r>
          </a:p>
        </p:txBody>
      </p:sp>
      <p:sp>
        <p:nvSpPr>
          <p:cNvPr id="9" name="anim-2">
            <a:extLst xmlns:a="http://schemas.openxmlformats.org/drawingml/2006/main">
              <a:ext uri="{FF2B5EF4-FFF2-40B4-BE49-F238E27FC236}">
                <a16:creationId xmlns:a16="http://schemas.microsoft.com/office/drawing/2014/main" id="{83FE06FA-D9A6-41B5-87A8-122C36E4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838575"/>
            <a:ext cx="327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4F8FB"/>
                </a:solidFill>
                <a:latin typeface="Arial"/>
                <a:ea typeface="Arial"/>
                <a:cs typeface="Arial"/>
              </a:rPr>
              <a:t>Следующий пункт</a:t>
            </a:r>
          </a:p>
        </p:txBody>
      </p:sp>
      <p:sp>
        <p:nvSpPr>
          <p:cNvPr id="10" name="anim-2">
            <a:extLst xmlns:a="http://schemas.openxmlformats.org/drawingml/2006/main">
              <a:ext uri="{FF2B5EF4-FFF2-40B4-BE49-F238E27FC236}">
                <a16:creationId xmlns:a16="http://schemas.microsoft.com/office/drawing/2014/main" id="{CEB377E6-A8B5-46FB-865A-5323494C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781550"/>
            <a:ext cx="321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в сторону, на уровне плеча</a:t>
            </a:r>
          </a:p>
        </p:txBody>
      </p:sp>
      <p:sp>
        <p:nvSpPr>
          <p:cNvPr id="11" name="anim-3">
            <a:extLst xmlns:a="http://schemas.openxmlformats.org/drawingml/2006/main">
              <a:ext uri="{FF2B5EF4-FFF2-40B4-BE49-F238E27FC236}">
                <a16:creationId xmlns:a16="http://schemas.microsoft.com/office/drawing/2014/main" id="{04589024-2426-44F5-B9C8-C1894189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574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7CE9F5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7CE9F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anim-3">
            <a:extLst xmlns:a="http://schemas.openxmlformats.org/drawingml/2006/main">
              <a:ext uri="{FF2B5EF4-FFF2-40B4-BE49-F238E27FC236}">
                <a16:creationId xmlns:a16="http://schemas.microsoft.com/office/drawing/2014/main" id="{DEA252CD-D6D1-40BE-AAE1-439C02B9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00375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Крест на груди</a:t>
            </a:r>
          </a:p>
        </p:txBody>
      </p:sp>
      <p:sp>
        <p:nvSpPr>
          <p:cNvPr id="13" name="anim-3">
            <a:extLst xmlns:a="http://schemas.openxmlformats.org/drawingml/2006/main">
              <a:ext uri="{FF2B5EF4-FFF2-40B4-BE49-F238E27FC236}">
                <a16:creationId xmlns:a16="http://schemas.microsoft.com/office/drawing/2014/main" id="{6414A387-DB37-41BA-A7F2-4400B723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38575"/>
            <a:ext cx="327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4F8FB"/>
                </a:solidFill>
                <a:latin typeface="Arial"/>
                <a:ea typeface="Arial"/>
                <a:cs typeface="Arial"/>
              </a:rPr>
              <a:t>Выбор или пауза</a:t>
            </a:r>
          </a:p>
        </p:txBody>
      </p:sp>
      <p:sp>
        <p:nvSpPr>
          <p:cNvPr id="14" name="anim-3">
            <a:extLst xmlns:a="http://schemas.openxmlformats.org/drawingml/2006/main">
              <a:ext uri="{FF2B5EF4-FFF2-40B4-BE49-F238E27FC236}">
                <a16:creationId xmlns:a16="http://schemas.microsoft.com/office/drawing/2014/main" id="{90A4D308-67AA-4E38-BBCE-664991ED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81550"/>
            <a:ext cx="321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удержать около секунды</a:t>
            </a:r>
          </a:p>
        </p:txBody>
      </p:sp>
      <p:sp>
        <p:nvSpPr>
          <p:cNvPr id="15" name="anim-4">
            <a:extLst xmlns:a="http://schemas.openxmlformats.org/drawingml/2006/main">
              <a:ext uri="{FF2B5EF4-FFF2-40B4-BE49-F238E27FC236}">
                <a16:creationId xmlns:a16="http://schemas.microsoft.com/office/drawing/2014/main" id="{F1724400-65BB-4353-BFC6-AF2700C3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Между командами руки опущены. В активном упражнении работает только крест.</a:t>
            </a:r>
          </a:p>
        </p:txBody>
      </p:sp>
    </p:spTree>
    <p:extLst>
      <p:ext uri="{BB962C8B-B14F-4D97-AF65-F5344CB8AC3E}">
        <p14:creationId xmlns:p14="http://schemas.microsoft.com/office/powerpoint/2010/main" val="644916281"/>
      </p:ext>
    </p:extLst>
  </p:cSld>
  <p:transition spd="med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2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2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2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2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2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42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2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42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nim-0">
            <a:extLst xmlns:a="http://schemas.openxmlformats.org/drawingml/2006/main">
              <a:ext uri="{FF2B5EF4-FFF2-40B4-BE49-F238E27FC236}">
                <a16:creationId xmlns:a16="http://schemas.microsoft.com/office/drawing/2014/main" id="{CDE2745B-72B0-4EB2-9302-A36A0A20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0"/>
                </a:solidFill>
                <a:latin typeface="Arial"/>
                <a:ea typeface="Arial"/>
                <a:cs typeface="Arial"/>
              </a:rPr>
              <a:t>Почему повтор не засчитан</a:t>
            </a:r>
          </a:p>
        </p:txBody>
      </p:sp>
      <p:sp>
        <p:nvSpPr>
          <p:cNvPr id="2" name="static">
            <a:extLst xmlns:a="http://schemas.openxmlformats.org/drawingml/2006/main">
              <a:ext uri="{FF2B5EF4-FFF2-40B4-BE49-F238E27FC236}">
                <a16:creationId xmlns:a16="http://schemas.microsoft.com/office/drawing/2014/main" id="{C5DE1445-41F7-4E3C-B7D4-8012E2A2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9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9616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anim-1">
            <a:extLst xmlns:a="http://schemas.openxmlformats.org/drawingml/2006/main">
              <a:ext uri="{FF2B5EF4-FFF2-40B4-BE49-F238E27FC236}">
                <a16:creationId xmlns:a16="http://schemas.microsoft.com/office/drawing/2014/main" id="{1614577F-E0EF-4371-B65C-CDC4E306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715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0" b="1">
                <a:solidFill>
                  <a:srgbClr val="D95564"/>
                </a:solidFill>
                <a:latin typeface="Arial"/>
                <a:ea typeface="Arial"/>
                <a:cs typeface="Arial"/>
              </a:defRPr>
            </a:pPr>
            <a:r>
              <a:rPr sz="10800" b="1">
                <a:solidFill>
                  <a:srgbClr val="D95564"/>
                </a:solidFill>
                <a:latin typeface="Arial"/>
                <a:ea typeface="Arial"/>
                <a:cs typeface="Arial"/>
              </a:rPr>
              <a:t>125°</a:t>
            </a:r>
          </a:p>
        </p:txBody>
      </p:sp>
      <p:sp>
        <p:nvSpPr>
          <p:cNvPr id="4" name="anim-1">
            <a:extLst xmlns:a="http://schemas.openxmlformats.org/drawingml/2006/main">
              <a:ext uri="{FF2B5EF4-FFF2-40B4-BE49-F238E27FC236}">
                <a16:creationId xmlns:a16="http://schemas.microsoft.com/office/drawing/2014/main" id="{93088E65-14EC-493B-AB66-42E0EDFE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9616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9616F"/>
                </a:solidFill>
                <a:latin typeface="Arial"/>
                <a:ea typeface="Arial"/>
                <a:cs typeface="Arial"/>
              </a:rPr>
              <a:t>измеренный угол колена</a:t>
            </a:r>
          </a:p>
        </p:txBody>
      </p:sp>
      <p:sp>
        <p:nvSpPr>
          <p:cNvPr id="5" name="anim-2">
            <a:extLst xmlns:a="http://schemas.openxmlformats.org/drawingml/2006/main">
              <a:ext uri="{FF2B5EF4-FFF2-40B4-BE49-F238E27FC236}">
                <a16:creationId xmlns:a16="http://schemas.microsoft.com/office/drawing/2014/main" id="{5C3816D0-AADC-4E60-8520-53EF86DB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962150"/>
            <a:ext cx="4619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0" b="1">
                <a:solidFill>
                  <a:srgbClr val="102330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102330"/>
                </a:solidFill>
                <a:latin typeface="Arial"/>
                <a:ea typeface="Arial"/>
                <a:cs typeface="Arial"/>
              </a:rPr>
              <a:t>102°</a:t>
            </a:r>
          </a:p>
        </p:txBody>
      </p:sp>
      <p:sp>
        <p:nvSpPr>
          <p:cNvPr id="6" name="anim-2">
            <a:extLst xmlns:a="http://schemas.openxmlformats.org/drawingml/2006/main">
              <a:ext uri="{FF2B5EF4-FFF2-40B4-BE49-F238E27FC236}">
                <a16:creationId xmlns:a16="http://schemas.microsoft.com/office/drawing/2014/main" id="{AF8FE53B-DF7C-4DDC-876A-1EA9487A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581400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9616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9616F"/>
                </a:solidFill>
                <a:latin typeface="Arial"/>
                <a:ea typeface="Arial"/>
                <a:cs typeface="Arial"/>
              </a:rPr>
              <a:t>порог глубины</a:t>
            </a:r>
          </a:p>
          <a:p xmlns:a="http://schemas.openxmlformats.org/drawingml/2006/main">
            <a:pPr algn="l">
              <a:defRPr sz="2025" b="0">
                <a:solidFill>
                  <a:srgbClr val="49616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9616F"/>
                </a:solidFill>
                <a:latin typeface="Arial"/>
                <a:ea typeface="Arial"/>
                <a:cs typeface="Arial"/>
              </a:rPr>
              <a:t>в этом правиле</a:t>
            </a:r>
          </a:p>
        </p:txBody>
      </p:sp>
      <p:sp>
        <p:nvSpPr>
          <p:cNvPr id="7" name="anim-3">
            <a:extLst xmlns:a="http://schemas.openxmlformats.org/drawingml/2006/main">
              <a:ext uri="{FF2B5EF4-FFF2-40B4-BE49-F238E27FC236}">
                <a16:creationId xmlns:a16="http://schemas.microsoft.com/office/drawing/2014/main" id="{6A4330A3-4C8C-4033-8B62-DE428F83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2525"/>
            <a:ext cx="10363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3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330"/>
                </a:solidFill>
                <a:latin typeface="Arial"/>
                <a:ea typeface="Arial"/>
                <a:cs typeface="Arial"/>
              </a:rPr>
              <a:t>Недостаточная глубина</a:t>
            </a:r>
          </a:p>
        </p:txBody>
      </p:sp>
      <p:sp>
        <p:nvSpPr>
          <p:cNvPr id="8" name="anim-3">
            <a:extLst xmlns:a="http://schemas.openxmlformats.org/drawingml/2006/main">
              <a:ext uri="{FF2B5EF4-FFF2-40B4-BE49-F238E27FC236}">
                <a16:creationId xmlns:a16="http://schemas.microsoft.com/office/drawing/2014/main" id="{EA35D937-4A28-424A-88AA-044423E3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62625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9616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9616F"/>
                </a:solidFill>
                <a:latin typeface="Arial"/>
                <a:ea typeface="Arial"/>
                <a:cs typeface="Arial"/>
              </a:rPr>
              <a:t>Пример объяснения правила. При потере суставов приложение ждёт видимость.</a:t>
            </a:r>
          </a:p>
        </p:txBody>
      </p:sp>
    </p:spTree>
    <p:extLst>
      <p:ext uri="{BB962C8B-B14F-4D97-AF65-F5344CB8AC3E}">
        <p14:creationId xmlns:p14="http://schemas.microsoft.com/office/powerpoint/2010/main" val="220030645"/>
      </p:ext>
    </p:extLst>
  </p:cSld>
  <p:transition spd="med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2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2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nim-0">
            <a:extLst xmlns:a="http://schemas.openxmlformats.org/drawingml/2006/main">
              <a:ext uri="{FF2B5EF4-FFF2-40B4-BE49-F238E27FC236}">
                <a16:creationId xmlns:a16="http://schemas.microsoft.com/office/drawing/2014/main" id="{8B5CA2DA-831A-4DEF-961C-D3913A3D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Результат хранит измеренное исправление</a:t>
            </a:r>
          </a:p>
        </p:txBody>
      </p:sp>
      <p:sp>
        <p:nvSpPr>
          <p:cNvPr id="2" name="static">
            <a:extLst xmlns:a="http://schemas.openxmlformats.org/drawingml/2006/main">
              <a:ext uri="{FF2B5EF4-FFF2-40B4-BE49-F238E27FC236}">
                <a16:creationId xmlns:a16="http://schemas.microsoft.com/office/drawing/2014/main" id="{3A1A6FF3-7FAE-42B2-ADFE-78804693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anim-1">
            <a:extLst xmlns:a="http://schemas.openxmlformats.org/drawingml/2006/main">
              <a:ext uri="{FF2B5EF4-FFF2-40B4-BE49-F238E27FC236}">
                <a16:creationId xmlns:a16="http://schemas.microsoft.com/office/drawing/2014/main" id="{124FB465-906B-4864-B40A-26756099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Пример интерфейса на синтетических данных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18226d6654db3"/>
          <a:stretch xmlns:a="http://schemas.openxmlformats.org/drawingml/2006/main"/>
        </p:blipFill>
        <p:spPr>
          <a:xfrm xmlns:a="http://schemas.openxmlformats.org/drawingml/2006/main">
            <a:off x="1030061" y="1943100"/>
            <a:ext cx="10131879" cy="4171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752116"/>
      </p:ext>
    </p:extLst>
  </p:cSld>
  <p:transition spd="med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2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2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nim-0">
            <a:extLst xmlns:a="http://schemas.openxmlformats.org/drawingml/2006/main">
              <a:ext uri="{FF2B5EF4-FFF2-40B4-BE49-F238E27FC236}">
                <a16:creationId xmlns:a16="http://schemas.microsoft.com/office/drawing/2014/main" id="{5A13A2B3-85B9-49A2-B5DA-39E2E7F1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Положение камеры зависит от упражнения</a:t>
            </a:r>
          </a:p>
        </p:txBody>
      </p:sp>
      <p:sp>
        <p:nvSpPr>
          <p:cNvPr id="2" name="static">
            <a:extLst xmlns:a="http://schemas.openxmlformats.org/drawingml/2006/main">
              <a:ext uri="{FF2B5EF4-FFF2-40B4-BE49-F238E27FC236}">
                <a16:creationId xmlns:a16="http://schemas.microsoft.com/office/drawing/2014/main" id="{01162F96-FFB0-4CA0-BA93-7D89B8DB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a50b05ad864013"/>
          <a:stretch xmlns:a="http://schemas.openxmlformats.org/drawingml/2006/main"/>
        </p:blipFill>
        <p:spPr>
          <a:xfrm xmlns:a="http://schemas.openxmlformats.org/drawingml/2006/main">
            <a:off x="688658" y="1952625"/>
            <a:ext cx="5090160" cy="318135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0bae6c7f746b0"/>
          <a:stretch xmlns:a="http://schemas.openxmlformats.org/drawingml/2006/main"/>
        </p:blipFill>
        <p:spPr>
          <a:xfrm xmlns:a="http://schemas.openxmlformats.org/drawingml/2006/main">
            <a:off x="6419850" y="1953816"/>
            <a:ext cx="5086350" cy="3178969"/>
          </a:xfrm>
          <a:prstGeom xmlns:a="http://schemas.openxmlformats.org/drawingml/2006/main" prst="rect">
            <a:avLst/>
          </a:prstGeom>
        </p:spPr>
      </p:pic>
      <p:sp>
        <p:nvSpPr>
          <p:cNvPr id="5" name="anim-1">
            <a:extLst xmlns:a="http://schemas.openxmlformats.org/drawingml/2006/main">
              <a:ext uri="{FF2B5EF4-FFF2-40B4-BE49-F238E27FC236}">
                <a16:creationId xmlns:a16="http://schemas.microsoft.com/office/drawing/2014/main" id="{F97A4621-B183-4256-8D8B-67AA9581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Жим: камера спереди</a:t>
            </a:r>
          </a:p>
        </p:txBody>
      </p:sp>
      <p:sp>
        <p:nvSpPr>
          <p:cNvPr id="6" name="anim-1">
            <a:extLst xmlns:a="http://schemas.openxmlformats.org/drawingml/2006/main">
              <a:ext uri="{FF2B5EF4-FFF2-40B4-BE49-F238E27FC236}">
                <a16:creationId xmlns:a16="http://schemas.microsoft.com/office/drawing/2014/main" id="{9E75DB0D-A513-4674-B915-2C2E2E19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334000"/>
            <a:ext cx="5095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Отжимания: сбоку или по диагонали</a:t>
            </a:r>
          </a:p>
        </p:txBody>
      </p:sp>
      <p:sp>
        <p:nvSpPr>
          <p:cNvPr id="7" name="anim-1">
            <a:extLst xmlns:a="http://schemas.openxmlformats.org/drawingml/2006/main">
              <a:ext uri="{FF2B5EF4-FFF2-40B4-BE49-F238E27FC236}">
                <a16:creationId xmlns:a16="http://schemas.microsoft.com/office/drawing/2014/main" id="{C18F346A-9C1E-4772-BD81-B2DA5C93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62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Стоять по центру не требуется. Рабочие суставы должны оставаться в кадре.</a:t>
            </a:r>
          </a:p>
        </p:txBody>
      </p:sp>
    </p:spTree>
    <p:extLst>
      <p:ext uri="{BB962C8B-B14F-4D97-AF65-F5344CB8AC3E}">
        <p14:creationId xmlns:p14="http://schemas.microsoft.com/office/powerpoint/2010/main" val="1578951237"/>
      </p:ext>
    </p:extLst>
  </p:cSld>
  <p:transition spd="med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 animBg="1"/>
      <p:bldP spid="6" grpId="0" animBg="1"/>
      <p:bldP spid="7" grpId="0" animBg="1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2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nim-0">
            <a:extLst xmlns:a="http://schemas.openxmlformats.org/drawingml/2006/main">
              <a:ext uri="{FF2B5EF4-FFF2-40B4-BE49-F238E27FC236}">
                <a16:creationId xmlns:a16="http://schemas.microsoft.com/office/drawing/2014/main" id="{E4457F0C-8CA3-437A-BA12-B89A164A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Видеопоказ перед стартом</a:t>
            </a:r>
          </a:p>
        </p:txBody>
      </p:sp>
      <p:sp>
        <p:nvSpPr>
          <p:cNvPr id="2" name="static">
            <a:extLst xmlns:a="http://schemas.openxmlformats.org/drawingml/2006/main">
              <a:ext uri="{FF2B5EF4-FFF2-40B4-BE49-F238E27FC236}">
                <a16:creationId xmlns:a16="http://schemas.microsoft.com/office/drawing/2014/main" id="{D2A51931-9845-4E54-AA42-DB88E304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10" name="" descr="Анимированный видеопоказ приседания. 8 секунд, цикл без звука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ad29e135b47be"/>
          <a:stretch xmlns:a="http://schemas.openxmlformats.org/drawingml/2006/main"/>
        </p:blipFill>
        <p:spPr>
          <a:xfrm xmlns:a="http://schemas.openxmlformats.org/drawingml/2006/main">
            <a:off x="685800" y="1952625"/>
            <a:ext cx="7162800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anim-1">
            <a:extLst xmlns:a="http://schemas.openxmlformats.org/drawingml/2006/main">
              <a:ext uri="{FF2B5EF4-FFF2-40B4-BE49-F238E27FC236}">
                <a16:creationId xmlns:a16="http://schemas.microsoft.com/office/drawing/2014/main" id="{7DB24841-8F03-4813-B0E8-81333DCB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133600"/>
            <a:ext cx="3124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Поза и ракурс</a:t>
            </a:r>
          </a:p>
        </p:txBody>
      </p:sp>
      <p:sp>
        <p:nvSpPr>
          <p:cNvPr id="5" name="anim-1">
            <a:extLst xmlns:a="http://schemas.openxmlformats.org/drawingml/2006/main">
              <a:ext uri="{FF2B5EF4-FFF2-40B4-BE49-F238E27FC236}">
                <a16:creationId xmlns:a16="http://schemas.microsoft.com/office/drawing/2014/main" id="{91C76F04-2B0E-4DA1-9095-D273ABF5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209925"/>
            <a:ext cx="3028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Как встать перед камерой</a:t>
            </a:r>
          </a:p>
          <a:p xmlns:a="http://schemas.openxmlformats.org/drawingml/2006/main">
            <a:pPr algn="l">
              <a:defRPr sz="2025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и как выполнить движение</a:t>
            </a:r>
          </a:p>
        </p:txBody>
      </p:sp>
      <p:sp>
        <p:nvSpPr>
          <p:cNvPr id="6" name="anim-2">
            <a:extLst xmlns:a="http://schemas.openxmlformats.org/drawingml/2006/main">
              <a:ext uri="{FF2B5EF4-FFF2-40B4-BE49-F238E27FC236}">
                <a16:creationId xmlns:a16="http://schemas.microsoft.com/office/drawing/2014/main" id="{72ED404F-BA72-4E0E-95EC-E0B05CAF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867275"/>
            <a:ext cx="3124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7CE9F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7CE9F5"/>
                </a:solidFill>
                <a:latin typeface="Arial"/>
                <a:ea typeface="Arial"/>
                <a:cs typeface="Arial"/>
              </a:rPr>
              <a:t>≥ 10 секунд</a:t>
            </a:r>
          </a:p>
        </p:txBody>
      </p:sp>
      <p:sp>
        <p:nvSpPr>
          <p:cNvPr id="7" name="anim-2">
            <a:extLst xmlns:a="http://schemas.openxmlformats.org/drawingml/2006/main">
              <a:ext uri="{FF2B5EF4-FFF2-40B4-BE49-F238E27FC236}">
                <a16:creationId xmlns:a16="http://schemas.microsoft.com/office/drawing/2014/main" id="{E0D85601-6923-404A-8C31-1E3C1849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600700"/>
            <a:ext cx="3028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между голосовыми</a:t>
            </a:r>
          </a:p>
          <a:p xmlns:a="http://schemas.openxmlformats.org/drawingml/2006/main">
            <a:pPr algn="l">
              <a:defRPr sz="195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сообщениями</a:t>
            </a:r>
          </a:p>
        </p:txBody>
      </p:sp>
    </p:spTree>
    <p:extLst>
      <p:ext uri="{BB962C8B-B14F-4D97-AF65-F5344CB8AC3E}">
        <p14:creationId xmlns:p14="http://schemas.microsoft.com/office/powerpoint/2010/main" val="1178625490"/>
      </p:ext>
    </p:extLst>
  </p:cSld>
  <p:transition spd="med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2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nim-0">
            <a:extLst xmlns:a="http://schemas.openxmlformats.org/drawingml/2006/main">
              <a:ext uri="{FF2B5EF4-FFF2-40B4-BE49-F238E27FC236}">
                <a16:creationId xmlns:a16="http://schemas.microsoft.com/office/drawing/2014/main" id="{57638C12-4B51-452B-9EB2-A312149C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Веб и Android с разным оформлением</a:t>
            </a:r>
          </a:p>
        </p:txBody>
      </p:sp>
      <p:sp>
        <p:nvSpPr>
          <p:cNvPr id="2" name="static">
            <a:extLst xmlns:a="http://schemas.openxmlformats.org/drawingml/2006/main">
              <a:ext uri="{FF2B5EF4-FFF2-40B4-BE49-F238E27FC236}">
                <a16:creationId xmlns:a16="http://schemas.microsoft.com/office/drawing/2014/main" id="{D39671C4-C494-420F-AFED-68B6AE03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a94d5c99841ac"/>
          <a:stretch xmlns:a="http://schemas.openxmlformats.org/drawingml/2006/main"/>
        </p:blipFill>
        <p:spPr>
          <a:xfrm xmlns:a="http://schemas.openxmlformats.org/drawingml/2006/main">
            <a:off x="685800" y="1905595"/>
            <a:ext cx="7905750" cy="4446984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9ff93343145c8"/>
          <a:stretch xmlns:a="http://schemas.openxmlformats.org/drawingml/2006/main"/>
        </p:blipFill>
        <p:spPr>
          <a:xfrm xmlns:a="http://schemas.openxmlformats.org/drawingml/2006/main">
            <a:off x="9191625" y="1676929"/>
            <a:ext cx="2209800" cy="4542367"/>
          </a:xfrm>
          <a:prstGeom xmlns:a="http://schemas.openxmlformats.org/drawingml/2006/main" prst="rect">
            <a:avLst/>
          </a:prstGeom>
        </p:spPr>
      </p:pic>
      <p:sp>
        <p:nvSpPr>
          <p:cNvPr id="5" name="anim-1">
            <a:extLst xmlns:a="http://schemas.openxmlformats.org/drawingml/2006/main">
              <a:ext uri="{FF2B5EF4-FFF2-40B4-BE49-F238E27FC236}">
                <a16:creationId xmlns:a16="http://schemas.microsoft.com/office/drawing/2014/main" id="{15A7BC5B-B035-49C5-9FAC-EC6260A6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CE9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CE9F5"/>
                </a:solidFill>
                <a:latin typeface="Arial"/>
                <a:ea typeface="Arial"/>
                <a:cs typeface="Arial"/>
              </a:rPr>
              <a:t>Браузер</a:t>
            </a:r>
          </a:p>
        </p:txBody>
      </p:sp>
      <p:sp>
        <p:nvSpPr>
          <p:cNvPr id="6" name="anim-1">
            <a:extLst xmlns:a="http://schemas.openxmlformats.org/drawingml/2006/main">
              <a:ext uri="{FF2B5EF4-FFF2-40B4-BE49-F238E27FC236}">
                <a16:creationId xmlns:a16="http://schemas.microsoft.com/office/drawing/2014/main" id="{984F79CE-92BC-4896-BEE0-BE8188A6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2858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3F1C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3F1CF"/>
                </a:solidFill>
                <a:latin typeface="Arial"/>
                <a:ea typeface="Arial"/>
                <a:cs typeface="Arial"/>
              </a:rPr>
              <a:t>APK</a:t>
            </a:r>
          </a:p>
        </p:txBody>
      </p:sp>
    </p:spTree>
    <p:extLst>
      <p:ext uri="{BB962C8B-B14F-4D97-AF65-F5344CB8AC3E}">
        <p14:creationId xmlns:p14="http://schemas.microsoft.com/office/powerpoint/2010/main" val="1255638948"/>
      </p:ext>
    </p:extLst>
  </p:cSld>
  <p:transition spd="med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  <p:bldP spid="6" grpId="0" animBg="1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2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nim-0">
            <a:extLst xmlns:a="http://schemas.openxmlformats.org/drawingml/2006/main">
              <a:ext uri="{FF2B5EF4-FFF2-40B4-BE49-F238E27FC236}">
                <a16:creationId xmlns:a16="http://schemas.microsoft.com/office/drawing/2014/main" id="{DE6C2A59-5569-49CB-8E37-45750CD3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Видео остаётся на устройстве</a:t>
            </a:r>
          </a:p>
        </p:txBody>
      </p:sp>
      <p:sp>
        <p:nvSpPr>
          <p:cNvPr id="2" name="static">
            <a:extLst xmlns:a="http://schemas.openxmlformats.org/drawingml/2006/main">
              <a:ext uri="{FF2B5EF4-FFF2-40B4-BE49-F238E27FC236}">
                <a16:creationId xmlns:a16="http://schemas.microsoft.com/office/drawing/2014/main" id="{EC26D822-0C8E-4203-A49C-E7AADA68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anim-1">
            <a:extLst xmlns:a="http://schemas.openxmlformats.org/drawingml/2006/main">
              <a:ext uri="{FF2B5EF4-FFF2-40B4-BE49-F238E27FC236}">
                <a16:creationId xmlns:a16="http://schemas.microsoft.com/office/drawing/2014/main" id="{7CF879E6-567C-4256-B951-C2DC56ED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9525000" cy="2200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050" b="1">
                <a:solidFill>
                  <a:srgbClr val="7CE9F5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7CE9F5"/>
                </a:solidFill>
                <a:latin typeface="Arial"/>
                <a:ea typeface="Arial"/>
                <a:cs typeface="Arial"/>
              </a:rPr>
              <a:t>Локальная</a:t>
            </a:r>
          </a:p>
          <a:p xmlns:a="http://schemas.openxmlformats.org/drawingml/2006/main">
            <a:pPr algn="l">
              <a:defRPr sz="7050" b="1">
                <a:solidFill>
                  <a:srgbClr val="7CE9F5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7CE9F5"/>
                </a:solidFill>
                <a:latin typeface="Arial"/>
                <a:ea typeface="Arial"/>
                <a:cs typeface="Arial"/>
              </a:rPr>
              <a:t>обработка</a:t>
            </a:r>
          </a:p>
        </p:txBody>
      </p:sp>
      <p:sp>
        <p:nvSpPr>
          <p:cNvPr id="4" name="anim-2">
            <a:extLst xmlns:a="http://schemas.openxmlformats.org/drawingml/2006/main">
              <a:ext uri="{FF2B5EF4-FFF2-40B4-BE49-F238E27FC236}">
                <a16:creationId xmlns:a16="http://schemas.microsoft.com/office/drawing/2014/main" id="{25D940A5-646C-402B-B247-A670383C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Без регистрации</a:t>
            </a:r>
          </a:p>
        </p:txBody>
      </p:sp>
      <p:sp>
        <p:nvSpPr>
          <p:cNvPr id="5" name="anim-2">
            <a:extLst xmlns:a="http://schemas.openxmlformats.org/drawingml/2006/main">
              <a:ext uri="{FF2B5EF4-FFF2-40B4-BE49-F238E27FC236}">
                <a16:creationId xmlns:a16="http://schemas.microsoft.com/office/drawing/2014/main" id="{5D5E959F-0E3A-45F1-9BEE-07E21823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3402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F8FB"/>
                </a:solidFill>
                <a:latin typeface="Arial"/>
                <a:ea typeface="Arial"/>
                <a:cs typeface="Arial"/>
              </a:rPr>
              <a:t>Без серверной передачи кадров</a:t>
            </a:r>
          </a:p>
        </p:txBody>
      </p:sp>
    </p:spTree>
    <p:extLst>
      <p:ext uri="{BB962C8B-B14F-4D97-AF65-F5344CB8AC3E}">
        <p14:creationId xmlns:p14="http://schemas.microsoft.com/office/powerpoint/2010/main" val="1733945046"/>
      </p:ext>
    </p:extLst>
  </p:cSld>
  <p:transition spd="med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2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4" grpId="0" animBg="1"/>
      <p:bldP spid="5" grpId="0" animBg="1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2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nim-0">
            <a:extLst xmlns:a="http://schemas.openxmlformats.org/drawingml/2006/main">
              <a:ext uri="{FF2B5EF4-FFF2-40B4-BE49-F238E27FC236}">
                <a16:creationId xmlns:a16="http://schemas.microsoft.com/office/drawing/2014/main" id="{849048FA-5A5A-45A9-B136-31F2C0C2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Как камера превращается в обратную связь</a:t>
            </a:r>
          </a:p>
        </p:txBody>
      </p:sp>
      <p:sp>
        <p:nvSpPr>
          <p:cNvPr id="2" name="static">
            <a:extLst xmlns:a="http://schemas.openxmlformats.org/drawingml/2006/main">
              <a:ext uri="{FF2B5EF4-FFF2-40B4-BE49-F238E27FC236}">
                <a16:creationId xmlns:a16="http://schemas.microsoft.com/office/drawing/2014/main" id="{3D1D7318-74BA-4389-BB63-6376E916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anim-1">
            <a:extLst xmlns:a="http://schemas.openxmlformats.org/drawingml/2006/main">
              <a:ext uri="{FF2B5EF4-FFF2-40B4-BE49-F238E27FC236}">
                <a16:creationId xmlns:a16="http://schemas.microsoft.com/office/drawing/2014/main" id="{770B317B-851F-4C8A-9ACD-AFA1A09E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352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7CE9F5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7CE9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anim-1">
            <a:extLst xmlns:a="http://schemas.openxmlformats.org/drawingml/2006/main">
              <a:ext uri="{FF2B5EF4-FFF2-40B4-BE49-F238E27FC236}">
                <a16:creationId xmlns:a16="http://schemas.microsoft.com/office/drawing/2014/main" id="{BE359F5A-111E-4065-942D-FB35B75A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Камера</a:t>
            </a:r>
          </a:p>
        </p:txBody>
      </p:sp>
      <p:sp>
        <p:nvSpPr>
          <p:cNvPr id="5" name="anim-1">
            <a:extLst xmlns:a="http://schemas.openxmlformats.org/drawingml/2006/main">
              <a:ext uri="{FF2B5EF4-FFF2-40B4-BE49-F238E27FC236}">
                <a16:creationId xmlns:a16="http://schemas.microsoft.com/office/drawing/2014/main" id="{6897D820-9A53-4A94-B0E0-6329172E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3622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Кадры</a:t>
            </a:r>
          </a:p>
          <a:p xmlns:a="http://schemas.openxmlformats.org/drawingml/2006/main">
            <a:pPr algn="l">
              <a:defRPr sz="2025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с устройства</a:t>
            </a:r>
          </a:p>
        </p:txBody>
      </p:sp>
      <p:sp>
        <p:nvSpPr>
          <p:cNvPr id="6" name="anim-2">
            <a:extLst xmlns:a="http://schemas.openxmlformats.org/drawingml/2006/main">
              <a:ext uri="{FF2B5EF4-FFF2-40B4-BE49-F238E27FC236}">
                <a16:creationId xmlns:a16="http://schemas.microsoft.com/office/drawing/2014/main" id="{A271E7B2-FAE2-488B-A270-A2F8B236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143125"/>
            <a:ext cx="2352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7CE9F5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7CE9F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anim-2">
            <a:extLst xmlns:a="http://schemas.openxmlformats.org/drawingml/2006/main">
              <a:ext uri="{FF2B5EF4-FFF2-40B4-BE49-F238E27FC236}">
                <a16:creationId xmlns:a16="http://schemas.microsoft.com/office/drawing/2014/main" id="{AB0307C8-86BF-481A-A68F-5B5C671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209925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MediaPipe</a:t>
            </a:r>
          </a:p>
        </p:txBody>
      </p:sp>
      <p:sp>
        <p:nvSpPr>
          <p:cNvPr id="8" name="anim-2">
            <a:extLst xmlns:a="http://schemas.openxmlformats.org/drawingml/2006/main">
              <a:ext uri="{FF2B5EF4-FFF2-40B4-BE49-F238E27FC236}">
                <a16:creationId xmlns:a16="http://schemas.microsoft.com/office/drawing/2014/main" id="{809C37CA-B3D7-41DA-A560-5A32DD3E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095750"/>
            <a:ext cx="23622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33 точки</a:t>
            </a:r>
          </a:p>
          <a:p xmlns:a="http://schemas.openxmlformats.org/drawingml/2006/main">
            <a:pPr algn="l">
              <a:defRPr sz="2025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и достоверность</a:t>
            </a:r>
          </a:p>
        </p:txBody>
      </p:sp>
      <p:sp>
        <p:nvSpPr>
          <p:cNvPr id="9" name="anim-3">
            <a:extLst xmlns:a="http://schemas.openxmlformats.org/drawingml/2006/main">
              <a:ext uri="{FF2B5EF4-FFF2-40B4-BE49-F238E27FC236}">
                <a16:creationId xmlns:a16="http://schemas.microsoft.com/office/drawing/2014/main" id="{B3EFC933-E039-4047-B726-9E67EEC4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43125"/>
            <a:ext cx="2352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7CE9F5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7CE9F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anim-3">
            <a:extLst xmlns:a="http://schemas.openxmlformats.org/drawingml/2006/main">
              <a:ext uri="{FF2B5EF4-FFF2-40B4-BE49-F238E27FC236}">
                <a16:creationId xmlns:a16="http://schemas.microsoft.com/office/drawing/2014/main" id="{BD349D6E-CB52-4F19-B06F-8B7EABF3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09925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Наш движок</a:t>
            </a:r>
          </a:p>
        </p:txBody>
      </p:sp>
      <p:sp>
        <p:nvSpPr>
          <p:cNvPr id="11" name="anim-3">
            <a:extLst xmlns:a="http://schemas.openxmlformats.org/drawingml/2006/main">
              <a:ext uri="{FF2B5EF4-FFF2-40B4-BE49-F238E27FC236}">
                <a16:creationId xmlns:a16="http://schemas.microsoft.com/office/drawing/2014/main" id="{ABB37B65-6F73-433B-A125-D506D971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23622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Фазы, метрики</a:t>
            </a:r>
          </a:p>
          <a:p xmlns:a="http://schemas.openxmlformats.org/drawingml/2006/main">
            <a:pPr algn="l">
              <a:defRPr sz="2025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и правила</a:t>
            </a:r>
          </a:p>
        </p:txBody>
      </p:sp>
      <p:sp>
        <p:nvSpPr>
          <p:cNvPr id="12" name="anim-4">
            <a:extLst xmlns:a="http://schemas.openxmlformats.org/drawingml/2006/main">
              <a:ext uri="{FF2B5EF4-FFF2-40B4-BE49-F238E27FC236}">
                <a16:creationId xmlns:a16="http://schemas.microsoft.com/office/drawing/2014/main" id="{7A94E19A-C2FD-4D5D-8C6B-4BBFE0A4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43125"/>
            <a:ext cx="2352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7CE9F5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7CE9F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anim-4">
            <a:extLst xmlns:a="http://schemas.openxmlformats.org/drawingml/2006/main">
              <a:ext uri="{FF2B5EF4-FFF2-40B4-BE49-F238E27FC236}">
                <a16:creationId xmlns:a16="http://schemas.microsoft.com/office/drawing/2014/main" id="{422F7B62-F26D-4949-A35B-6A01E024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09925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Интерфейс</a:t>
            </a:r>
          </a:p>
        </p:txBody>
      </p:sp>
      <p:sp>
        <p:nvSpPr>
          <p:cNvPr id="14" name="anim-4">
            <a:extLst xmlns:a="http://schemas.openxmlformats.org/drawingml/2006/main">
              <a:ext uri="{FF2B5EF4-FFF2-40B4-BE49-F238E27FC236}">
                <a16:creationId xmlns:a16="http://schemas.microsoft.com/office/drawing/2014/main" id="{DF4B177E-1032-4000-A405-4FA2E702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95750"/>
            <a:ext cx="23622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Подсказка</a:t>
            </a:r>
          </a:p>
          <a:p xmlns:a="http://schemas.openxmlformats.org/drawingml/2006/main">
            <a:pPr algn="l">
              <a:defRPr sz="2025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и результат</a:t>
            </a:r>
          </a:p>
        </p:txBody>
      </p:sp>
      <p:sp>
        <p:nvSpPr>
          <p:cNvPr id="15" name="anim-5">
            <a:extLst xmlns:a="http://schemas.openxmlformats.org/drawingml/2006/main">
              <a:ext uri="{FF2B5EF4-FFF2-40B4-BE49-F238E27FC236}">
                <a16:creationId xmlns:a16="http://schemas.microsoft.com/office/drawing/2014/main" id="{3ED8EF16-02E4-43B6-A8E4-89FF65BE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TypeScript   /   Web Worker   /   Canvas 2D   /   Capacitor</a:t>
            </a:r>
          </a:p>
        </p:txBody>
      </p:sp>
    </p:spTree>
    <p:extLst>
      <p:ext uri="{BB962C8B-B14F-4D97-AF65-F5344CB8AC3E}">
        <p14:creationId xmlns:p14="http://schemas.microsoft.com/office/powerpoint/2010/main" val="1615302298"/>
      </p:ext>
    </p:extLst>
  </p:cSld>
  <p:transition spd="med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2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2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2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2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2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42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2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42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2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nim-0">
            <a:extLst xmlns:a="http://schemas.openxmlformats.org/drawingml/2006/main">
              <a:ext uri="{FF2B5EF4-FFF2-40B4-BE49-F238E27FC236}">
                <a16:creationId xmlns:a16="http://schemas.microsoft.com/office/drawing/2014/main" id="{18C7F7D6-380E-4519-8957-9E607A75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Собственная логика поверх модели позы</a:t>
            </a:r>
          </a:p>
        </p:txBody>
      </p:sp>
      <p:sp>
        <p:nvSpPr>
          <p:cNvPr id="2" name="static">
            <a:extLst xmlns:a="http://schemas.openxmlformats.org/drawingml/2006/main">
              <a:ext uri="{FF2B5EF4-FFF2-40B4-BE49-F238E27FC236}">
                <a16:creationId xmlns:a16="http://schemas.microsoft.com/office/drawing/2014/main" id="{3CCF9E0B-488F-48F7-86C1-CED702CD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anim-1">
            <a:extLst xmlns:a="http://schemas.openxmlformats.org/drawingml/2006/main">
              <a:ext uri="{FF2B5EF4-FFF2-40B4-BE49-F238E27FC236}">
                <a16:creationId xmlns:a16="http://schemas.microsoft.com/office/drawing/2014/main" id="{B9CD0FC8-81EE-4EF1-B080-46EC11A0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CE9F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CE9F5"/>
                </a:solidFill>
                <a:latin typeface="Arial"/>
                <a:ea typeface="Arial"/>
                <a:cs typeface="Arial"/>
              </a:rPr>
              <a:t>Полный цикл</a:t>
            </a:r>
          </a:p>
        </p:txBody>
      </p:sp>
      <p:sp>
        <p:nvSpPr>
          <p:cNvPr id="4" name="anim-1">
            <a:extLst xmlns:a="http://schemas.openxmlformats.org/drawingml/2006/main">
              <a:ext uri="{FF2B5EF4-FFF2-40B4-BE49-F238E27FC236}">
                <a16:creationId xmlns:a16="http://schemas.microsoft.com/office/drawing/2014/main" id="{43F8A5C5-EF49-4B54-87AF-B2A1B8ED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019300"/>
            <a:ext cx="623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Неполная амплитуда не добавляет повтор</a:t>
            </a:r>
          </a:p>
        </p:txBody>
      </p:sp>
      <p:sp>
        <p:nvSpPr>
          <p:cNvPr id="5" name="anim-2">
            <a:extLst xmlns:a="http://schemas.openxmlformats.org/drawingml/2006/main">
              <a:ext uri="{FF2B5EF4-FFF2-40B4-BE49-F238E27FC236}">
                <a16:creationId xmlns:a16="http://schemas.microsoft.com/office/drawing/2014/main" id="{635EAF54-897C-4C38-9DCE-03478B25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Видимые суставы</a:t>
            </a:r>
          </a:p>
        </p:txBody>
      </p:sp>
      <p:sp>
        <p:nvSpPr>
          <p:cNvPr id="6" name="anim-2">
            <a:extLst xmlns:a="http://schemas.openxmlformats.org/drawingml/2006/main">
              <a:ext uri="{FF2B5EF4-FFF2-40B4-BE49-F238E27FC236}">
                <a16:creationId xmlns:a16="http://schemas.microsoft.com/office/drawing/2014/main" id="{FC7350BA-C8E6-4FF9-8A04-CF95FA6A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095625"/>
            <a:ext cx="623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Потеря позы приостанавливает измерение</a:t>
            </a:r>
          </a:p>
        </p:txBody>
      </p:sp>
      <p:sp>
        <p:nvSpPr>
          <p:cNvPr id="7" name="anim-3">
            <a:extLst xmlns:a="http://schemas.openxmlformats.org/drawingml/2006/main">
              <a:ext uri="{FF2B5EF4-FFF2-40B4-BE49-F238E27FC236}">
                <a16:creationId xmlns:a16="http://schemas.microsoft.com/office/drawing/2014/main" id="{44E300DD-F999-4CBD-8D0F-B134646B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Удержание и отпускание</a:t>
            </a:r>
          </a:p>
        </p:txBody>
      </p:sp>
      <p:sp>
        <p:nvSpPr>
          <p:cNvPr id="8" name="anim-3">
            <a:extLst xmlns:a="http://schemas.openxmlformats.org/drawingml/2006/main">
              <a:ext uri="{FF2B5EF4-FFF2-40B4-BE49-F238E27FC236}">
                <a16:creationId xmlns:a16="http://schemas.microsoft.com/office/drawing/2014/main" id="{CABA9864-B759-4B51-88D6-65477175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171950"/>
            <a:ext cx="623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Один жест не запускает цепочку экранов</a:t>
            </a:r>
          </a:p>
        </p:txBody>
      </p:sp>
      <p:sp>
        <p:nvSpPr>
          <p:cNvPr id="9" name="anim-4">
            <a:extLst xmlns:a="http://schemas.openxmlformats.org/drawingml/2006/main">
              <a:ext uri="{FF2B5EF4-FFF2-40B4-BE49-F238E27FC236}">
                <a16:creationId xmlns:a16="http://schemas.microsoft.com/office/drawing/2014/main" id="{179F1D5A-7FBA-4B97-86B0-73F5A019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Свежие результаты</a:t>
            </a:r>
          </a:p>
        </p:txBody>
      </p:sp>
      <p:sp>
        <p:nvSpPr>
          <p:cNvPr id="10" name="anim-4">
            <a:extLst xmlns:a="http://schemas.openxmlformats.org/drawingml/2006/main">
              <a:ext uri="{FF2B5EF4-FFF2-40B4-BE49-F238E27FC236}">
                <a16:creationId xmlns:a16="http://schemas.microsoft.com/office/drawing/2014/main" id="{ACB33160-9A39-4EC4-A6A1-E555788D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248275"/>
            <a:ext cx="623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Один кадр в обработке, устаревшие отбрасываются</a:t>
            </a:r>
          </a:p>
        </p:txBody>
      </p:sp>
    </p:spTree>
    <p:extLst>
      <p:ext uri="{BB962C8B-B14F-4D97-AF65-F5344CB8AC3E}">
        <p14:creationId xmlns:p14="http://schemas.microsoft.com/office/powerpoint/2010/main" val="33478413"/>
      </p:ext>
    </p:extLst>
  </p:cSld>
  <p:transition spd="med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2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2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2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nim-0">
            <a:extLst xmlns:a="http://schemas.openxmlformats.org/drawingml/2006/main">
              <a:ext uri="{FF2B5EF4-FFF2-40B4-BE49-F238E27FC236}">
                <a16:creationId xmlns:a16="http://schemas.microsoft.com/office/drawing/2014/main" id="{B8B6C761-2B2E-4C1D-BC9E-A1AFD632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0"/>
                </a:solidFill>
                <a:latin typeface="Arial"/>
                <a:ea typeface="Arial"/>
                <a:cs typeface="Arial"/>
              </a:rPr>
              <a:t>Что уже проверено</a:t>
            </a:r>
          </a:p>
        </p:txBody>
      </p:sp>
      <p:sp>
        <p:nvSpPr>
          <p:cNvPr id="2" name="static">
            <a:extLst xmlns:a="http://schemas.openxmlformats.org/drawingml/2006/main">
              <a:ext uri="{FF2B5EF4-FFF2-40B4-BE49-F238E27FC236}">
                <a16:creationId xmlns:a16="http://schemas.microsoft.com/office/drawing/2014/main" id="{FA1ADAE3-30E8-4460-88CE-E608CD8F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9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9616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anim-1">
            <a:extLst xmlns:a="http://schemas.openxmlformats.org/drawingml/2006/main">
              <a:ext uri="{FF2B5EF4-FFF2-40B4-BE49-F238E27FC236}">
                <a16:creationId xmlns:a16="http://schemas.microsoft.com/office/drawing/2014/main" id="{92A3FCEC-D9E0-4F3A-AFBC-7A5BEA48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102330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102330"/>
                </a:solidFill>
                <a:latin typeface="Arial"/>
                <a:ea typeface="Arial"/>
                <a:cs typeface="Arial"/>
              </a:rPr>
              <a:t>97 / 97</a:t>
            </a:r>
          </a:p>
        </p:txBody>
      </p:sp>
      <p:sp>
        <p:nvSpPr>
          <p:cNvPr id="4" name="anim-1">
            <a:extLst xmlns:a="http://schemas.openxmlformats.org/drawingml/2006/main">
              <a:ext uri="{FF2B5EF4-FFF2-40B4-BE49-F238E27FC236}">
                <a16:creationId xmlns:a16="http://schemas.microsoft.com/office/drawing/2014/main" id="{987EBA77-8F4D-4704-8AF7-7B54F68A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49616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49616F"/>
                </a:solidFill>
                <a:latin typeface="Arial"/>
                <a:ea typeface="Arial"/>
                <a:cs typeface="Arial"/>
              </a:rPr>
              <a:t>автоматических тестов проходят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4000500"/>
          <a:ext xmlns:a="http://schemas.openxmlformats.org/drawingml/2006/main" cx="10820400" cy="1847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581900"/>
              </a:tblGrid>
              <a:tr h="609600">
                <a:tc>
                  <a:txBody>
                    <a:bodyPr lIns="114300" tIns="95250" rIns="114300" bIns="95250"/>
                    <a:lstStyle/>
                    <a:p>
                      <a:r>
                        <a:rPr sz="1800" b="1">
                          <a:solidFill>
                            <a:srgbClr val="102330"/>
                          </a:solidFill>
                          <a:latin typeface="Arial"/>
                          <a:ea typeface="Arial"/>
                          <a:cs typeface="Arial"/>
                        </a:rPr>
                        <a:t>Логика</a:t>
                      </a:r>
                    </a:p>
                  </a:txBody>
                  <a:tcPr marL="91440" marR="91440" marT="45720" marB="45720" anchor="ctr">
                    <a:solidFill>
                      <a:srgbClr val="F2F5F4"/>
                    </a:solidFill>
                  </a:tcPr>
                </a:tc>
                <a:tc>
                  <a:txBody>
                    <a:bodyPr lIns="114300" tIns="95250" rIns="114300" bIns="95250"/>
                    <a:lstStyle/>
                    <a:p>
                      <a:r>
                        <a:rPr sz="1800" b="0">
                          <a:solidFill>
                            <a:srgbClr val="49616F"/>
                          </a:solidFill>
                          <a:latin typeface="Arial"/>
                          <a:ea typeface="Arial"/>
                          <a:cs typeface="Arial"/>
                        </a:rPr>
                        <a:t>Полные циклы, ошибки, пауза и защита от ложных команд</a:t>
                      </a:r>
                    </a:p>
                  </a:txBody>
                  <a:tcPr marL="91440" marR="91440" marT="45720" marB="45720" anchor="ctr">
                    <a:solidFill>
                      <a:srgbClr val="F2F5F4"/>
                    </a:solidFill>
                  </a:tcPr>
                </a:tc>
              </a:tr>
              <a:tr h="609600">
                <a:tc>
                  <a:txBody>
                    <a:bodyPr lIns="114300" tIns="95250" rIns="114300" bIns="95250"/>
                    <a:lstStyle/>
                    <a:p>
                      <a:r>
                        <a:rPr sz="1800" b="1">
                          <a:solidFill>
                            <a:srgbClr val="102330"/>
                          </a:solidFill>
                          <a:latin typeface="Arial"/>
                          <a:ea typeface="Arial"/>
                          <a:cs typeface="Arial"/>
                        </a:rPr>
                        <a:t>Интерфейс</a:t>
                      </a:r>
                    </a:p>
                  </a:txBody>
                  <a:tcPr marL="91440" marR="91440" marT="45720" marB="45720" anchor="ctr">
                    <a:solidFill>
                      <a:srgbClr val="F2F5F4"/>
                    </a:solidFill>
                  </a:tcPr>
                </a:tc>
                <a:tc>
                  <a:txBody>
                    <a:bodyPr lIns="114300" tIns="95250" rIns="114300" bIns="95250"/>
                    <a:lstStyle/>
                    <a:p>
                      <a:r>
                        <a:rPr sz="1800" b="0">
                          <a:solidFill>
                            <a:srgbClr val="49616F"/>
                          </a:solidFill>
                          <a:latin typeface="Arial"/>
                          <a:ea typeface="Arial"/>
                          <a:cs typeface="Arial"/>
                        </a:rPr>
                        <a:t>Полный маршрут жестами на синтетическом вводе</a:t>
                      </a:r>
                    </a:p>
                  </a:txBody>
                  <a:tcPr marL="91440" marR="91440" marT="45720" marB="45720" anchor="ctr">
                    <a:solidFill>
                      <a:srgbClr val="F2F5F4"/>
                    </a:solidFill>
                  </a:tcPr>
                </a:tc>
              </a:tr>
              <a:tr h="609600">
                <a:tc>
                  <a:txBody>
                    <a:bodyPr lIns="114300" tIns="95250" rIns="114300" bIns="95250"/>
                    <a:lstStyle/>
                    <a:p>
                      <a:r>
                        <a:rPr sz="1800" b="1">
                          <a:solidFill>
                            <a:srgbClr val="102330"/>
                          </a:solidFill>
                          <a:latin typeface="Arial"/>
                          <a:ea typeface="Arial"/>
                          <a:cs typeface="Arial"/>
                        </a:rPr>
                        <a:t>Доставка</a:t>
                      </a:r>
                    </a:p>
                  </a:txBody>
                  <a:tcPr marL="91440" marR="91440" marT="45720" marB="45720" anchor="ctr">
                    <a:solidFill>
                      <a:srgbClr val="F2F5F4"/>
                    </a:solidFill>
                  </a:tcPr>
                </a:tc>
                <a:tc>
                  <a:txBody>
                    <a:bodyPr lIns="114300" tIns="95250" rIns="114300" bIns="95250"/>
                    <a:lstStyle/>
                    <a:p>
                      <a:r>
                        <a:rPr sz="1800" b="0">
                          <a:solidFill>
                            <a:srgbClr val="49616F"/>
                          </a:solidFill>
                          <a:latin typeface="Arial"/>
                          <a:ea typeface="Arial"/>
                          <a:cs typeface="Arial"/>
                        </a:rPr>
                        <a:t>Публичный веб и подписанный APK 1.3.0</a:t>
                      </a:r>
                    </a:p>
                  </a:txBody>
                  <a:tcPr marL="91440" marR="91440" marT="45720" marB="45720" anchor="ctr">
                    <a:solidFill>
                      <a:srgbClr val="F2F5F4"/>
                    </a:solidFill>
                  </a:tcPr>
                </a:tc>
              </a:tr>
            </a:tbl>
          </a:graphicData>
        </a:graphic>
      </p:graphicFrame>
      <p:sp>
        <p:nvSpPr>
          <p:cNvPr id="6" name="anim-3">
            <a:extLst xmlns:a="http://schemas.openxmlformats.org/drawingml/2006/main">
              <a:ext uri="{FF2B5EF4-FFF2-40B4-BE49-F238E27FC236}">
                <a16:creationId xmlns:a16="http://schemas.microsoft.com/office/drawing/2014/main" id="{01B9251C-EF08-491B-BF43-5A841E9F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674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556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95564"/>
                </a:solidFill>
                <a:latin typeface="Arial"/>
                <a:ea typeface="Arial"/>
                <a:cs typeface="Arial"/>
              </a:rPr>
              <a:t>Точность распознавания на живых людях ещё не измерена</a:t>
            </a:r>
          </a:p>
        </p:txBody>
      </p:sp>
    </p:spTree>
    <p:extLst>
      <p:ext uri="{BB962C8B-B14F-4D97-AF65-F5344CB8AC3E}">
        <p14:creationId xmlns:p14="http://schemas.microsoft.com/office/powerpoint/2010/main" val="395683052"/>
      </p:ext>
    </p:extLst>
  </p:cSld>
  <p:transition spd="med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2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animBg="1"/>
      <p:bldP spid="4" grpId="0" animBg="1"/>
      <p:bldP spid="6" grpId="0" animBg="1"/>
    </p:bldLst>
  </p:timing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2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nim-0">
            <a:extLst xmlns:a="http://schemas.openxmlformats.org/drawingml/2006/main">
              <a:ext uri="{FF2B5EF4-FFF2-40B4-BE49-F238E27FC236}">
                <a16:creationId xmlns:a16="http://schemas.microsoft.com/office/drawing/2014/main" id="{5E7E7C68-9029-4E4A-8ED1-E46B4A58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Следующая проверка: живые тренировки</a:t>
            </a:r>
          </a:p>
        </p:txBody>
      </p:sp>
      <p:sp>
        <p:nvSpPr>
          <p:cNvPr id="2" name="static">
            <a:extLst xmlns:a="http://schemas.openxmlformats.org/drawingml/2006/main">
              <a:ext uri="{FF2B5EF4-FFF2-40B4-BE49-F238E27FC236}">
                <a16:creationId xmlns:a16="http://schemas.microsoft.com/office/drawing/2014/main" id="{E55390C0-2D27-447F-A118-5EFF5033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anim-1">
            <a:extLst xmlns:a="http://schemas.openxmlformats.org/drawingml/2006/main">
              <a:ext uri="{FF2B5EF4-FFF2-40B4-BE49-F238E27FC236}">
                <a16:creationId xmlns:a16="http://schemas.microsoft.com/office/drawing/2014/main" id="{11D7D4F9-00B7-471E-9E65-8ADEC033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4524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00" b="1">
                <a:solidFill>
                  <a:srgbClr val="7CE9F5"/>
                </a:solidFill>
                <a:latin typeface="Arial"/>
                <a:ea typeface="Arial"/>
                <a:cs typeface="Arial"/>
              </a:defRPr>
            </a:pPr>
            <a:r>
              <a:rPr sz="11400" b="1">
                <a:solidFill>
                  <a:srgbClr val="7CE9F5"/>
                </a:solidFill>
                <a:latin typeface="Arial"/>
                <a:ea typeface="Arial"/>
                <a:cs typeface="Arial"/>
              </a:rPr>
              <a:t>2–3</a:t>
            </a:r>
          </a:p>
        </p:txBody>
      </p:sp>
      <p:sp>
        <p:nvSpPr>
          <p:cNvPr id="4" name="anim-1">
            <a:extLst xmlns:a="http://schemas.openxmlformats.org/drawingml/2006/main">
              <a:ext uri="{FF2B5EF4-FFF2-40B4-BE49-F238E27FC236}">
                <a16:creationId xmlns:a16="http://schemas.microsoft.com/office/drawing/2014/main" id="{2FA51A68-6DCF-451C-9174-41A3CCEA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1925"/>
            <a:ext cx="45815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F8FB"/>
                </a:solidFill>
                <a:latin typeface="Arial"/>
                <a:ea typeface="Arial"/>
                <a:cs typeface="Arial"/>
              </a:rPr>
              <a:t>участника по одному протоколу</a:t>
            </a:r>
          </a:p>
        </p:txBody>
      </p:sp>
      <p:sp>
        <p:nvSpPr>
          <p:cNvPr id="5" name="anim-2">
            <a:extLst xmlns:a="http://schemas.openxmlformats.org/drawingml/2006/main">
              <a:ext uri="{FF2B5EF4-FFF2-40B4-BE49-F238E27FC236}">
                <a16:creationId xmlns:a16="http://schemas.microsoft.com/office/drawing/2014/main" id="{ED1BDBBF-CAB5-442C-9E1C-B2811261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0502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Что измерить</a:t>
            </a:r>
          </a:p>
        </p:txBody>
      </p:sp>
      <p:sp>
        <p:nvSpPr>
          <p:cNvPr id="6" name="anim-2">
            <a:extLst xmlns:a="http://schemas.openxmlformats.org/drawingml/2006/main">
              <a:ext uri="{FF2B5EF4-FFF2-40B4-BE49-F238E27FC236}">
                <a16:creationId xmlns:a16="http://schemas.microsoft.com/office/drawing/2014/main" id="{91B7BC52-58F5-457C-A109-61A8838D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24200"/>
            <a:ext cx="47625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Совпадение счёта с ручной разметкой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Лишние зачёты и ложные отказы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Жесты, ракурсы и скорость модели</a:t>
            </a:r>
          </a:p>
        </p:txBody>
      </p:sp>
      <p:sp>
        <p:nvSpPr>
          <p:cNvPr id="7" name="anim-3">
            <a:extLst xmlns:a="http://schemas.openxmlformats.org/drawingml/2006/main">
              <a:ext uri="{FF2B5EF4-FFF2-40B4-BE49-F238E27FC236}">
                <a16:creationId xmlns:a16="http://schemas.microsoft.com/office/drawing/2014/main" id="{8663E83A-701F-4196-AE18-76856A07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388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Физический Android и разные условия освещения</a:t>
            </a:r>
          </a:p>
        </p:txBody>
      </p:sp>
    </p:spTree>
    <p:extLst>
      <p:ext uri="{BB962C8B-B14F-4D97-AF65-F5344CB8AC3E}">
        <p14:creationId xmlns:p14="http://schemas.microsoft.com/office/powerpoint/2010/main" val="812067147"/>
      </p:ext>
    </p:extLst>
  </p:cSld>
  <p:transition spd="med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2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2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tatic">
            <a:extLst xmlns:a="http://schemas.openxmlformats.org/drawingml/2006/main">
              <a:ext uri="{FF2B5EF4-FFF2-40B4-BE49-F238E27FC236}">
                <a16:creationId xmlns:a16="http://schemas.microsoft.com/office/drawing/2014/main" id="{BC077C10-C3FA-4406-9470-04334375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6fff119354f5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anim-0">
            <a:extLst xmlns:a="http://schemas.openxmlformats.org/drawingml/2006/main">
              <a:ext uri="{FF2B5EF4-FFF2-40B4-BE49-F238E27FC236}">
                <a16:creationId xmlns:a16="http://schemas.microsoft.com/office/drawing/2014/main" id="{18526C20-521D-4D15-ACE2-3F711552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685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Зеркало</a:t>
            </a:r>
          </a:p>
        </p:txBody>
      </p:sp>
      <p:sp>
        <p:nvSpPr>
          <p:cNvPr id="4" name="anim-1">
            <a:extLst xmlns:a="http://schemas.openxmlformats.org/drawingml/2006/main">
              <a:ext uri="{FF2B5EF4-FFF2-40B4-BE49-F238E27FC236}">
                <a16:creationId xmlns:a16="http://schemas.microsoft.com/office/drawing/2014/main" id="{E7033486-8EE9-4208-963E-00B26596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4F8FB"/>
                </a:solidFill>
                <a:latin typeface="Arial"/>
                <a:ea typeface="Arial"/>
                <a:cs typeface="Arial"/>
              </a:rPr>
              <a:t>Тренировка с понятной</a:t>
            </a:r>
          </a:p>
          <a:p xmlns:a="http://schemas.openxmlformats.org/drawingml/2006/main">
            <a:pPr algn="l">
              <a:defRPr sz="3000" b="0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4F8FB"/>
                </a:solidFill>
                <a:latin typeface="Arial"/>
                <a:ea typeface="Arial"/>
                <a:cs typeface="Arial"/>
              </a:rPr>
              <a:t>обратной связью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e5f851b18411f"/>
          <a:stretch xmlns:a="http://schemas.openxmlformats.org/drawingml/2006/main"/>
        </p:blipFill>
        <p:spPr>
          <a:xfrm xmlns:a="http://schemas.openxmlformats.org/drawingml/2006/main">
            <a:off x="733425" y="4495800"/>
            <a:ext cx="1476375" cy="1476375"/>
          </a:xfrm>
          <a:prstGeom xmlns:a="http://schemas.openxmlformats.org/drawingml/2006/main" prst="rect">
            <a:avLst/>
          </a:prstGeom>
        </p:spPr>
      </p:pic>
      <p:sp>
        <p:nvSpPr>
          <p:cNvPr id="6" name="anim-2">
            <a:extLst xmlns:a="http://schemas.openxmlformats.org/drawingml/2006/main">
              <a:ext uri="{FF2B5EF4-FFF2-40B4-BE49-F238E27FC236}">
                <a16:creationId xmlns:a16="http://schemas.microsoft.com/office/drawing/2014/main" id="{B9C798D1-3920-4F4C-A4C4-087F21DF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00575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CE9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CE9F5"/>
                </a:solidFill>
                <a:latin typeface="Arial"/>
                <a:ea typeface="Arial"/>
                <a:cs typeface="Arial"/>
                <a:hlinkClick xmlns:r="http://schemas.openxmlformats.org/officeDocument/2006/relationships" r:id="R14da99cb49ba4f7c"/>
              </a:rPr>
              <a:t>Открыть веб-версию</a:t>
            </a:r>
          </a:p>
        </p:txBody>
      </p:sp>
      <p:sp>
        <p:nvSpPr>
          <p:cNvPr id="7" name="anim-2">
            <a:extLst xmlns:a="http://schemas.openxmlformats.org/drawingml/2006/main">
              <a:ext uri="{FF2B5EF4-FFF2-40B4-BE49-F238E27FC236}">
                <a16:creationId xmlns:a16="http://schemas.microsoft.com/office/drawing/2014/main" id="{C7309E68-6E67-4CE1-9497-15167918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114925"/>
            <a:ext cx="4600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8FB"/>
                </a:solidFill>
                <a:latin typeface="Arial"/>
                <a:ea typeface="Arial"/>
                <a:cs typeface="Arial"/>
                <a:hlinkClick xmlns:r="http://schemas.openxmlformats.org/officeDocument/2006/relationships" r:id="R8874369f9a594d6b"/>
              </a:rPr>
              <a:t>ovverage.github.io/zerkalo/app</a:t>
            </a:r>
          </a:p>
        </p:txBody>
      </p:sp>
      <p:sp>
        <p:nvSpPr>
          <p:cNvPr id="8" name="anim-2">
            <a:extLst xmlns:a="http://schemas.openxmlformats.org/drawingml/2006/main">
              <a:ext uri="{FF2B5EF4-FFF2-40B4-BE49-F238E27FC236}">
                <a16:creationId xmlns:a16="http://schemas.microsoft.com/office/drawing/2014/main" id="{7A3C4D64-7297-4878-9C4E-340887C3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6102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CBFCC"/>
                </a:solidFill>
                <a:latin typeface="Arial"/>
                <a:ea typeface="Arial"/>
                <a:cs typeface="Arial"/>
                <a:hlinkClick xmlns:r="http://schemas.openxmlformats.org/officeDocument/2006/relationships" r:id="R3309c73864ef4d2c"/>
              </a:rPr>
              <a:t>Код и APK на GitHub</a:t>
            </a:r>
          </a:p>
        </p:txBody>
      </p:sp>
      <p:sp>
        <p:nvSpPr>
          <p:cNvPr id="9" name="static">
            <a:extLst xmlns:a="http://schemas.openxmlformats.org/drawingml/2006/main">
              <a:ext uri="{FF2B5EF4-FFF2-40B4-BE49-F238E27FC236}">
                <a16:creationId xmlns:a16="http://schemas.microsoft.com/office/drawing/2014/main" id="{E8C44DF3-5467-4C50-92B9-24054BCF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81750"/>
            <a:ext cx="628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CBF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CBFCC"/>
                </a:solidFill>
                <a:latin typeface="Arial"/>
                <a:ea typeface="Arial"/>
                <a:cs typeface="Arial"/>
              </a:rPr>
              <a:t>PEEP  /  ADMIT HACKATHON</a:t>
            </a:r>
          </a:p>
        </p:txBody>
      </p:sp>
    </p:spTree>
    <p:extLst>
      <p:ext uri="{BB962C8B-B14F-4D97-AF65-F5344CB8AC3E}">
        <p14:creationId xmlns:p14="http://schemas.microsoft.com/office/powerpoint/2010/main" val="243691484"/>
      </p:ext>
    </p:extLst>
  </p:cSld>
  <p:transition spd="med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2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2026-09-30T08:42:23.9300000Z</dcterms:created>
  <dcterms:modified xsi:type="dcterms:W3CDTF">2026-09-30T08:42:23.9300000Z</dcterms:modified>
</coreProperties>
</file>